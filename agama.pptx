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4" r:id="rId2"/>
    <p:sldId id="268" r:id="rId3"/>
    <p:sldId id="266" r:id="rId4"/>
    <p:sldId id="267" r:id="rId5"/>
    <p:sldId id="270" r:id="rId6"/>
    <p:sldId id="271" r:id="rId7"/>
    <p:sldId id="272" r:id="rId8"/>
    <p:sldId id="275" r:id="rId9"/>
    <p:sldId id="256" r:id="rId10"/>
    <p:sldId id="257" r:id="rId11"/>
    <p:sldId id="258" r:id="rId12"/>
    <p:sldId id="259" r:id="rId13"/>
    <p:sldId id="260" r:id="rId14"/>
    <p:sldId id="261" r:id="rId15"/>
    <p:sldId id="262" r:id="rId16"/>
    <p:sldId id="263" r:id="rId17"/>
    <p:sldId id="264" r:id="rId18"/>
    <p:sldId id="265" r:id="rId19"/>
    <p:sldId id="27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D489E9-81E4-4E8F-9BAD-B234006C3B9C}"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E51F46-7E9E-49E6-B566-8CD646F11B2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D489E9-81E4-4E8F-9BAD-B234006C3B9C}"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E51F46-7E9E-49E6-B566-8CD646F11B28}"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D489E9-81E4-4E8F-9BAD-B234006C3B9C}"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E51F46-7E9E-49E6-B566-8CD646F11B2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80D489E9-81E4-4E8F-9BAD-B234006C3B9C}"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E51F46-7E9E-49E6-B566-8CD646F11B28}" type="slidenum">
              <a:rPr lang="en-US" smtClean="0"/>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D489E9-81E4-4E8F-9BAD-B234006C3B9C}" type="datetimeFigureOut">
              <a:rPr lang="en-US" smtClean="0"/>
              <a:t>9/13/2025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E51F46-7E9E-49E6-B566-8CD646F11B2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0D489E9-81E4-4E8F-9BAD-B234006C3B9C}" type="datetimeFigureOut">
              <a:rPr lang="en-US" smtClean="0"/>
              <a:t>9/13/2025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E51F46-7E9E-49E6-B566-8CD646F11B2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80D489E9-81E4-4E8F-9BAD-B234006C3B9C}" type="datetimeFigureOut">
              <a:rPr lang="en-US" smtClean="0"/>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E51F46-7E9E-49E6-B566-8CD646F11B2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80D489E9-81E4-4E8F-9BAD-B234006C3B9C}"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E51F46-7E9E-49E6-B566-8CD646F11B28}" type="slidenum">
              <a:rPr lang="en-US" smtClean="0"/>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D489E9-81E4-4E8F-9BAD-B234006C3B9C}"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E51F46-7E9E-49E6-B566-8CD646F11B28}" type="slidenum">
              <a:rPr lang="en-US" smtClean="0"/>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D489E9-81E4-4E8F-9BAD-B234006C3B9C}"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E51F46-7E9E-49E6-B566-8CD646F11B2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80D489E9-81E4-4E8F-9BAD-B234006C3B9C}"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E51F46-7E9E-49E6-B566-8CD646F11B28}" type="slidenum">
              <a:rPr lang="en-US" smtClean="0"/>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80D489E9-81E4-4E8F-9BAD-B234006C3B9C}" type="datetimeFigureOut">
              <a:rPr lang="en-US" smtClean="0"/>
              <a:t>9/13/2025</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DE51F46-7E9E-49E6-B566-8CD646F11B28}" type="slidenum">
              <a:rPr lang="en-US" smtClean="0"/>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502493-A8DC-9EBF-B39F-C2C0C1F195B2}"/>
              </a:ext>
            </a:extLst>
          </p:cNvPr>
          <p:cNvPicPr>
            <a:picLocks noChangeAspect="1"/>
          </p:cNvPicPr>
          <p:nvPr/>
        </p:nvPicPr>
        <p:blipFill>
          <a:blip r:embed="rId2"/>
          <a:stretch>
            <a:fillRect/>
          </a:stretch>
        </p:blipFill>
        <p:spPr>
          <a:xfrm>
            <a:off x="0" y="0"/>
            <a:ext cx="5867400" cy="6858000"/>
          </a:xfrm>
          <a:prstGeom prst="rect">
            <a:avLst/>
          </a:prstGeom>
        </p:spPr>
      </p:pic>
      <p:sp>
        <p:nvSpPr>
          <p:cNvPr id="4" name="TextBox 3">
            <a:extLst>
              <a:ext uri="{FF2B5EF4-FFF2-40B4-BE49-F238E27FC236}">
                <a16:creationId xmlns:a16="http://schemas.microsoft.com/office/drawing/2014/main" id="{E7146886-D59B-8F3F-2D1B-87A7E946F76E}"/>
              </a:ext>
            </a:extLst>
          </p:cNvPr>
          <p:cNvSpPr txBox="1"/>
          <p:nvPr/>
        </p:nvSpPr>
        <p:spPr>
          <a:xfrm>
            <a:off x="5867400" y="196870"/>
            <a:ext cx="3276600" cy="6432530"/>
          </a:xfrm>
          <a:prstGeom prst="rect">
            <a:avLst/>
          </a:prstGeom>
          <a:noFill/>
        </p:spPr>
        <p:txBody>
          <a:bodyPr wrap="square" rtlCol="0">
            <a:spAutoFit/>
          </a:bodyPr>
          <a:lstStyle/>
          <a:p>
            <a:pPr algn="ctr"/>
            <a:r>
              <a:rPr lang="en-US" sz="3200" b="1" dirty="0">
                <a:highlight>
                  <a:srgbClr val="FFFF00"/>
                </a:highlight>
              </a:rPr>
              <a:t>BAHAS TUNTAS </a:t>
            </a:r>
          </a:p>
          <a:p>
            <a:pPr algn="ctr"/>
            <a:endParaRPr lang="en-US" sz="2400" b="1" dirty="0"/>
          </a:p>
          <a:p>
            <a:pPr algn="ctr"/>
            <a:r>
              <a:rPr lang="en-US" sz="2400" b="1" dirty="0">
                <a:highlight>
                  <a:srgbClr val="00FF00"/>
                </a:highlight>
              </a:rPr>
              <a:t>SYARIAT PEMBAGIAN </a:t>
            </a:r>
          </a:p>
          <a:p>
            <a:pPr algn="ctr"/>
            <a:r>
              <a:rPr lang="en-US" sz="2400" b="1" dirty="0">
                <a:highlight>
                  <a:srgbClr val="00FF00"/>
                </a:highlight>
              </a:rPr>
              <a:t>WARISAN</a:t>
            </a:r>
          </a:p>
          <a:p>
            <a:pPr algn="ctr"/>
            <a:r>
              <a:rPr lang="en-US" sz="2400" b="1" dirty="0">
                <a:highlight>
                  <a:srgbClr val="00FF00"/>
                </a:highlight>
              </a:rPr>
              <a:t>BAGI UMAT ISLAM </a:t>
            </a:r>
          </a:p>
          <a:p>
            <a:pPr algn="ctr"/>
            <a:r>
              <a:rPr lang="en-US" sz="2400" b="1" dirty="0">
                <a:highlight>
                  <a:srgbClr val="00FF00"/>
                </a:highlight>
              </a:rPr>
              <a:t>YANG TAAT</a:t>
            </a:r>
          </a:p>
          <a:p>
            <a:pPr algn="ctr"/>
            <a:endParaRPr lang="en-US" sz="2400" b="1" dirty="0"/>
          </a:p>
          <a:p>
            <a:pPr algn="ctr"/>
            <a:r>
              <a:rPr lang="en-US" sz="2400" b="1" dirty="0">
                <a:highlight>
                  <a:srgbClr val="C0C0C0"/>
                </a:highlight>
              </a:rPr>
              <a:t>KAJIAN KHUSUS</a:t>
            </a:r>
          </a:p>
          <a:p>
            <a:pPr algn="ctr"/>
            <a:r>
              <a:rPr lang="en-US" sz="2400" b="1" dirty="0">
                <a:highlight>
                  <a:srgbClr val="C0C0C0"/>
                </a:highlight>
              </a:rPr>
              <a:t>PROGRAM </a:t>
            </a:r>
          </a:p>
          <a:p>
            <a:pPr algn="ctr"/>
            <a:r>
              <a:rPr lang="en-US" sz="2400" b="1" dirty="0">
                <a:highlight>
                  <a:srgbClr val="C0C0C0"/>
                </a:highlight>
              </a:rPr>
              <a:t>PASCA HAJI</a:t>
            </a:r>
          </a:p>
          <a:p>
            <a:pPr algn="ctr"/>
            <a:endParaRPr lang="en-US" sz="2400" b="1" dirty="0"/>
          </a:p>
          <a:p>
            <a:pPr algn="ctr"/>
            <a:r>
              <a:rPr lang="en-US" sz="2400" b="1" dirty="0">
                <a:highlight>
                  <a:srgbClr val="FF00FF"/>
                </a:highlight>
              </a:rPr>
              <a:t>KBIHU</a:t>
            </a:r>
          </a:p>
          <a:p>
            <a:pPr algn="ctr"/>
            <a:r>
              <a:rPr lang="en-US" sz="2400" b="1" dirty="0">
                <a:highlight>
                  <a:srgbClr val="FF00FF"/>
                </a:highlight>
              </a:rPr>
              <a:t>MULTAZAM</a:t>
            </a:r>
          </a:p>
          <a:p>
            <a:pPr algn="ctr"/>
            <a:r>
              <a:rPr lang="en-US" sz="2400" b="1" dirty="0">
                <a:highlight>
                  <a:srgbClr val="FF00FF"/>
                </a:highlight>
              </a:rPr>
              <a:t>AD DAKWAH</a:t>
            </a:r>
          </a:p>
          <a:p>
            <a:pPr algn="ctr"/>
            <a:r>
              <a:rPr lang="en-US" sz="2400" b="1" dirty="0">
                <a:highlight>
                  <a:srgbClr val="FF00FF"/>
                </a:highlight>
              </a:rPr>
              <a:t>DIY</a:t>
            </a:r>
          </a:p>
          <a:p>
            <a:pPr algn="ctr"/>
            <a:r>
              <a:rPr lang="en-US" sz="4400" b="1" dirty="0">
                <a:solidFill>
                  <a:srgbClr val="002060"/>
                </a:solidFill>
              </a:rPr>
              <a:t>2025</a:t>
            </a:r>
            <a:endParaRPr lang="en-ID" sz="4400" b="1" dirty="0">
              <a:solidFill>
                <a:srgbClr val="002060"/>
              </a:solidFill>
            </a:endParaRPr>
          </a:p>
        </p:txBody>
      </p:sp>
    </p:spTree>
    <p:extLst>
      <p:ext uri="{BB962C8B-B14F-4D97-AF65-F5344CB8AC3E}">
        <p14:creationId xmlns:p14="http://schemas.microsoft.com/office/powerpoint/2010/main" val="704090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1E0D6-555B-70BA-2D38-7AAD51C1A57A}"/>
              </a:ext>
            </a:extLst>
          </p:cNvPr>
          <p:cNvSpPr>
            <a:spLocks noGrp="1"/>
          </p:cNvSpPr>
          <p:nvPr>
            <p:ph type="ctrTitle"/>
          </p:nvPr>
        </p:nvSpPr>
        <p:spPr>
          <a:xfrm>
            <a:off x="685800" y="990600"/>
            <a:ext cx="7772400" cy="2209800"/>
          </a:xfrm>
        </p:spPr>
        <p:txBody>
          <a:bodyPr>
            <a:normAutofit/>
          </a:bodyPr>
          <a:lstStyle/>
          <a:p>
            <a:r>
              <a:rPr lang="en-US" dirty="0"/>
              <a:t>DASAR HUKUM PEMBAGIAN WARIS MENURUT SYARIAT ISLAM</a:t>
            </a:r>
            <a:endParaRPr lang="en-ID" dirty="0"/>
          </a:p>
        </p:txBody>
      </p:sp>
      <p:sp>
        <p:nvSpPr>
          <p:cNvPr id="3" name="Subtitle 2">
            <a:extLst>
              <a:ext uri="{FF2B5EF4-FFF2-40B4-BE49-F238E27FC236}">
                <a16:creationId xmlns:a16="http://schemas.microsoft.com/office/drawing/2014/main" id="{584BB948-9F30-F69E-BA2A-F0CC0F3CBBFC}"/>
              </a:ext>
            </a:extLst>
          </p:cNvPr>
          <p:cNvSpPr>
            <a:spLocks noGrp="1"/>
          </p:cNvSpPr>
          <p:nvPr>
            <p:ph type="subTitle" idx="1"/>
          </p:nvPr>
        </p:nvSpPr>
        <p:spPr>
          <a:xfrm>
            <a:off x="1371600" y="3200400"/>
            <a:ext cx="6400800" cy="3352800"/>
          </a:xfrm>
        </p:spPr>
        <p:txBody>
          <a:bodyPr>
            <a:normAutofit fontScale="92500" lnSpcReduction="20000"/>
          </a:bodyPr>
          <a:lstStyle/>
          <a:p>
            <a:r>
              <a:rPr lang="en-US" sz="3600" b="1" dirty="0"/>
              <a:t>KIIP </a:t>
            </a:r>
            <a:r>
              <a:rPr lang="en-US" sz="3600" b="1" dirty="0" err="1"/>
              <a:t>Multazam</a:t>
            </a:r>
            <a:r>
              <a:rPr lang="en-US" sz="3600" b="1" dirty="0"/>
              <a:t>-Ad </a:t>
            </a:r>
            <a:r>
              <a:rPr lang="en-US" sz="3600" b="1" dirty="0" err="1"/>
              <a:t>Dakwah</a:t>
            </a:r>
            <a:endParaRPr lang="en-US" sz="3600" b="1" dirty="0"/>
          </a:p>
          <a:p>
            <a:r>
              <a:rPr lang="en-US" sz="3600" b="1" dirty="0"/>
              <a:t>MASJID ABU BAKAR</a:t>
            </a:r>
          </a:p>
          <a:p>
            <a:r>
              <a:rPr lang="en-US" sz="3600" b="1" dirty="0"/>
              <a:t>YOGYAKARTA</a:t>
            </a:r>
          </a:p>
          <a:p>
            <a:r>
              <a:rPr lang="en-US" sz="3600" b="1" dirty="0"/>
              <a:t>2025</a:t>
            </a:r>
          </a:p>
          <a:p>
            <a:endParaRPr lang="en-US" sz="2400" b="1" dirty="0"/>
          </a:p>
          <a:p>
            <a:endParaRPr lang="en-US" sz="2400" b="1" dirty="0"/>
          </a:p>
          <a:p>
            <a:r>
              <a:rPr lang="en-US" sz="3900" b="1" dirty="0" err="1">
                <a:solidFill>
                  <a:srgbClr val="002060"/>
                </a:solidFill>
              </a:rPr>
              <a:t>Sunarta</a:t>
            </a:r>
            <a:endParaRPr lang="en-ID" sz="3900" b="1" dirty="0">
              <a:solidFill>
                <a:srgbClr val="002060"/>
              </a:solidFill>
            </a:endParaRPr>
          </a:p>
        </p:txBody>
      </p:sp>
    </p:spTree>
    <p:extLst>
      <p:ext uri="{BB962C8B-B14F-4D97-AF65-F5344CB8AC3E}">
        <p14:creationId xmlns:p14="http://schemas.microsoft.com/office/powerpoint/2010/main" val="2257872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28930" y="1828800"/>
            <a:ext cx="8620760" cy="5029199"/>
          </a:xfrm>
        </p:spPr>
        <p:txBody>
          <a:bodyPr>
            <a:normAutofit fontScale="97500"/>
          </a:bodyPr>
          <a:lstStyle/>
          <a:p>
            <a:pPr marL="514350" indent="-514350">
              <a:buFont typeface="+mj-lt"/>
              <a:buAutoNum type="arabicParenR"/>
            </a:pPr>
            <a:r>
              <a:rPr lang="en-US" sz="2500" dirty="0">
                <a:latin typeface="Comic Sans MS" panose="030F0702030302020204" pitchFamily="66" charset="0"/>
                <a:sym typeface="+mn-ea"/>
              </a:rPr>
              <a:t>“</a:t>
            </a:r>
            <a:r>
              <a:rPr lang="en-US" sz="2500" dirty="0" err="1">
                <a:latin typeface="Comic Sans MS" panose="030F0702030302020204" pitchFamily="66" charset="0"/>
                <a:sym typeface="+mn-ea"/>
              </a:rPr>
              <a:t>Pelajarilah</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ilmu</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faraaidh</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ajarkanlah</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kepada</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manusia</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Karena</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ia</a:t>
            </a:r>
            <a:r>
              <a:rPr lang="en-US" sz="2500" dirty="0">
                <a:latin typeface="Comic Sans MS" panose="030F0702030302020204" pitchFamily="66" charset="0"/>
                <a:sym typeface="+mn-ea"/>
              </a:rPr>
              <a:t>(</a:t>
            </a:r>
            <a:r>
              <a:rPr lang="en-US" sz="2500" dirty="0" err="1">
                <a:latin typeface="Comic Sans MS" panose="030F0702030302020204" pitchFamily="66" charset="0"/>
                <a:sym typeface="+mn-ea"/>
              </a:rPr>
              <a:t>ilmu</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tsb</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adalah</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setengah</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dari</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ilmu</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akan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dilupakan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serta</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merupakan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ilmu</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pertama</a:t>
            </a:r>
            <a:r>
              <a:rPr lang="en-US" sz="2500" dirty="0">
                <a:latin typeface="Comic Sans MS" panose="030F0702030302020204" pitchFamily="66" charset="0"/>
                <a:sym typeface="+mn-ea"/>
              </a:rPr>
              <a:t> yang </a:t>
            </a:r>
            <a:r>
              <a:rPr lang="en-US" sz="2500" dirty="0" err="1">
                <a:latin typeface="Comic Sans MS" panose="030F0702030302020204" pitchFamily="66" charset="0"/>
                <a:sym typeface="+mn-ea"/>
              </a:rPr>
              <a:t>akan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diangkat</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dari</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umatku</a:t>
            </a:r>
            <a:r>
              <a:rPr lang="en-US" sz="2500" dirty="0">
                <a:latin typeface="Comic Sans MS" panose="030F0702030302020204" pitchFamily="66" charset="0"/>
                <a:sym typeface="+mn-ea"/>
              </a:rPr>
              <a:t>”</a:t>
            </a:r>
            <a:r>
              <a:rPr lang="en-US" sz="2500" b="1" dirty="0">
                <a:sym typeface="+mn-ea"/>
              </a:rPr>
              <a:t>(HR </a:t>
            </a:r>
            <a:r>
              <a:rPr lang="en-US" sz="2500" b="1" dirty="0" err="1">
                <a:sym typeface="+mn-ea"/>
              </a:rPr>
              <a:t>Ibnu</a:t>
            </a:r>
            <a:r>
              <a:rPr lang="en-US" sz="2500" b="1" dirty="0">
                <a:sym typeface="+mn-ea"/>
              </a:rPr>
              <a:t> </a:t>
            </a:r>
            <a:r>
              <a:rPr lang="en-US" sz="2500" b="1" dirty="0" err="1">
                <a:sym typeface="+mn-ea"/>
              </a:rPr>
              <a:t>Majah</a:t>
            </a:r>
            <a:r>
              <a:rPr lang="en-US" sz="2500" b="1" dirty="0">
                <a:sym typeface="+mn-ea"/>
              </a:rPr>
              <a:t>).</a:t>
            </a:r>
            <a:r>
              <a:rPr lang="en-US" sz="2500" dirty="0">
                <a:sym typeface="+mn-ea"/>
              </a:rPr>
              <a:t> </a:t>
            </a:r>
            <a:endParaRPr lang="en-US" sz="2500" dirty="0"/>
          </a:p>
          <a:p>
            <a:pPr marL="514350" indent="-514350">
              <a:buFont typeface="+mj-lt"/>
              <a:buAutoNum type="arabicParenR"/>
            </a:pPr>
            <a:r>
              <a:rPr lang="en-US" sz="2500" dirty="0">
                <a:latin typeface="Comic Sans MS" panose="030F0702030302020204" pitchFamily="66" charset="0"/>
                <a:sym typeface="+mn-ea"/>
              </a:rPr>
              <a:t>“</a:t>
            </a:r>
            <a:r>
              <a:rPr lang="en-US" sz="2500" dirty="0" err="1">
                <a:latin typeface="Comic Sans MS" panose="030F0702030302020204" pitchFamily="66" charset="0"/>
                <a:sym typeface="+mn-ea"/>
              </a:rPr>
              <a:t>Sesungguhnya</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Aku</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akan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wafat</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ilmu</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akan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diangkat</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serta</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akan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muncul</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fitnah</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Sehingga</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akan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berselisih</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dua</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orang</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dalam</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hal</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warisan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mereka</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tidak</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dapat</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menemukan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orang</a:t>
            </a:r>
            <a:r>
              <a:rPr lang="en-US" sz="2500" dirty="0">
                <a:latin typeface="Comic Sans MS" panose="030F0702030302020204" pitchFamily="66" charset="0"/>
                <a:sym typeface="+mn-ea"/>
              </a:rPr>
              <a:t> yang </a:t>
            </a:r>
            <a:r>
              <a:rPr lang="en-US" sz="2500" dirty="0" err="1">
                <a:latin typeface="Comic Sans MS" panose="030F0702030302020204" pitchFamily="66" charset="0"/>
                <a:sym typeface="+mn-ea"/>
              </a:rPr>
              <a:t>bisa</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menyelesaikan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permasalahan</a:t>
            </a:r>
            <a:r>
              <a:rPr lang="en-US" sz="2500" dirty="0">
                <a:latin typeface="Comic Sans MS" panose="030F0702030302020204" pitchFamily="66" charset="0"/>
                <a:sym typeface="+mn-ea"/>
              </a:rPr>
              <a:t> </a:t>
            </a:r>
            <a:r>
              <a:rPr lang="en-US" sz="2500" dirty="0" err="1">
                <a:latin typeface="Comic Sans MS" panose="030F0702030302020204" pitchFamily="66" charset="0"/>
                <a:sym typeface="+mn-ea"/>
              </a:rPr>
              <a:t>mereka</a:t>
            </a:r>
            <a:r>
              <a:rPr lang="en-US" sz="2500" dirty="0">
                <a:latin typeface="Comic Sans MS" panose="030F0702030302020204" pitchFamily="66" charset="0"/>
                <a:sym typeface="+mn-ea"/>
              </a:rPr>
              <a:t>”</a:t>
            </a:r>
            <a:r>
              <a:rPr lang="en-US" sz="2500" b="1" dirty="0">
                <a:sym typeface="+mn-ea"/>
              </a:rPr>
              <a:t>(HR </a:t>
            </a:r>
            <a:r>
              <a:rPr lang="en-US" sz="2500" b="1" dirty="0" err="1">
                <a:sym typeface="+mn-ea"/>
              </a:rPr>
              <a:t>Ahmad,Tirmidzi,&amp;Hakim</a:t>
            </a:r>
            <a:r>
              <a:rPr lang="en-US" sz="2500" b="1" dirty="0">
                <a:sym typeface="+mn-ea"/>
              </a:rPr>
              <a:t>).</a:t>
            </a:r>
            <a:endParaRPr lang="en-US" sz="2500" b="1" dirty="0"/>
          </a:p>
          <a:p>
            <a:pPr marL="514350" indent="-514350">
              <a:buFont typeface="+mj-lt"/>
              <a:buAutoNum type="arabicParenR"/>
            </a:pPr>
            <a:r>
              <a:rPr lang="en-US" sz="2500" dirty="0">
                <a:latin typeface="Comic Sans MS" panose="030F0702030302020204" pitchFamily="66" charset="0"/>
                <a:cs typeface="Arial" panose="020B0604020202020204" pitchFamily="34" charset="0"/>
                <a:sym typeface="+mn-ea"/>
              </a:rPr>
              <a:t>”</a:t>
            </a:r>
            <a:r>
              <a:rPr lang="en-US" sz="2500" dirty="0" err="1">
                <a:latin typeface="Comic Sans MS" panose="030F0702030302020204" pitchFamily="66" charset="0"/>
                <a:cs typeface="Arial" panose="020B0604020202020204" pitchFamily="34" charset="0"/>
                <a:sym typeface="+mn-ea"/>
              </a:rPr>
              <a:t>Ilmu</a:t>
            </a:r>
            <a:r>
              <a:rPr lang="en-US" sz="2500" dirty="0">
                <a:latin typeface="Comic Sans MS" panose="030F0702030302020204" pitchFamily="66" charset="0"/>
                <a:cs typeface="Arial" panose="020B0604020202020204" pitchFamily="34" charset="0"/>
                <a:sym typeface="+mn-ea"/>
              </a:rPr>
              <a:t> </a:t>
            </a:r>
            <a:r>
              <a:rPr lang="en-US" sz="2500" dirty="0" err="1">
                <a:latin typeface="Comic Sans MS" panose="030F0702030302020204" pitchFamily="66" charset="0"/>
                <a:cs typeface="Arial" panose="020B0604020202020204" pitchFamily="34" charset="0"/>
                <a:sym typeface="+mn-ea"/>
              </a:rPr>
              <a:t>itu</a:t>
            </a:r>
            <a:r>
              <a:rPr lang="en-US" sz="2500" dirty="0">
                <a:latin typeface="Comic Sans MS" panose="030F0702030302020204" pitchFamily="66" charset="0"/>
                <a:cs typeface="Arial" panose="020B0604020202020204" pitchFamily="34" charset="0"/>
                <a:sym typeface="+mn-ea"/>
              </a:rPr>
              <a:t> </a:t>
            </a:r>
            <a:r>
              <a:rPr lang="en-US" sz="2500" dirty="0" err="1">
                <a:latin typeface="Comic Sans MS" panose="030F0702030302020204" pitchFamily="66" charset="0"/>
                <a:cs typeface="Arial" panose="020B0604020202020204" pitchFamily="34" charset="0"/>
                <a:sym typeface="+mn-ea"/>
              </a:rPr>
              <a:t>ada</a:t>
            </a:r>
            <a:r>
              <a:rPr lang="en-US" sz="2500" dirty="0">
                <a:latin typeface="Comic Sans MS" panose="030F0702030302020204" pitchFamily="66" charset="0"/>
                <a:cs typeface="Arial" panose="020B0604020202020204" pitchFamily="34" charset="0"/>
                <a:sym typeface="+mn-ea"/>
              </a:rPr>
              <a:t> </a:t>
            </a:r>
            <a:r>
              <a:rPr lang="en-US" sz="2500" dirty="0" err="1">
                <a:latin typeface="Comic Sans MS" panose="030F0702030302020204" pitchFamily="66" charset="0"/>
                <a:cs typeface="Arial" panose="020B0604020202020204" pitchFamily="34" charset="0"/>
                <a:sym typeface="+mn-ea"/>
              </a:rPr>
              <a:t>tiga</a:t>
            </a:r>
            <a:r>
              <a:rPr lang="en-US" sz="2500" dirty="0">
                <a:latin typeface="Comic Sans MS" panose="030F0702030302020204" pitchFamily="66" charset="0"/>
                <a:cs typeface="Arial" panose="020B0604020202020204" pitchFamily="34" charset="0"/>
                <a:sym typeface="+mn-ea"/>
              </a:rPr>
              <a:t>, </a:t>
            </a:r>
            <a:r>
              <a:rPr lang="en-US" sz="2500" dirty="0" err="1">
                <a:latin typeface="Comic Sans MS" panose="030F0702030302020204" pitchFamily="66" charset="0"/>
                <a:cs typeface="Arial" panose="020B0604020202020204" pitchFamily="34" charset="0"/>
                <a:sym typeface="+mn-ea"/>
              </a:rPr>
              <a:t>selain</a:t>
            </a:r>
            <a:r>
              <a:rPr lang="en-US" sz="2500" dirty="0">
                <a:latin typeface="Comic Sans MS" panose="030F0702030302020204" pitchFamily="66" charset="0"/>
                <a:cs typeface="Arial" panose="020B0604020202020204" pitchFamily="34" charset="0"/>
                <a:sym typeface="+mn-ea"/>
              </a:rPr>
              <a:t> </a:t>
            </a:r>
            <a:r>
              <a:rPr lang="en-US" sz="2500" dirty="0" err="1">
                <a:latin typeface="Comic Sans MS" panose="030F0702030302020204" pitchFamily="66" charset="0"/>
                <a:cs typeface="Arial" panose="020B0604020202020204" pitchFamily="34" charset="0"/>
                <a:sym typeface="+mn-ea"/>
              </a:rPr>
              <a:t>itu</a:t>
            </a:r>
            <a:r>
              <a:rPr lang="en-US" sz="2500" dirty="0">
                <a:latin typeface="Comic Sans MS" panose="030F0702030302020204" pitchFamily="66" charset="0"/>
                <a:cs typeface="Arial" panose="020B0604020202020204" pitchFamily="34" charset="0"/>
                <a:sym typeface="+mn-ea"/>
              </a:rPr>
              <a:t> </a:t>
            </a:r>
            <a:r>
              <a:rPr lang="en-US" sz="2500" dirty="0" err="1">
                <a:latin typeface="Comic Sans MS" panose="030F0702030302020204" pitchFamily="66" charset="0"/>
                <a:cs typeface="Arial" panose="020B0604020202020204" pitchFamily="34" charset="0"/>
                <a:sym typeface="+mn-ea"/>
              </a:rPr>
              <a:t>hanyalah</a:t>
            </a:r>
            <a:r>
              <a:rPr lang="en-US" sz="2500" dirty="0">
                <a:latin typeface="Comic Sans MS" panose="030F0702030302020204" pitchFamily="66" charset="0"/>
                <a:cs typeface="Arial" panose="020B0604020202020204" pitchFamily="34" charset="0"/>
                <a:sym typeface="+mn-ea"/>
              </a:rPr>
              <a:t> </a:t>
            </a:r>
            <a:r>
              <a:rPr lang="en-US" sz="2500" dirty="0" err="1">
                <a:latin typeface="Comic Sans MS" panose="030F0702030302020204" pitchFamily="66" charset="0"/>
                <a:cs typeface="Arial" panose="020B0604020202020204" pitchFamily="34" charset="0"/>
                <a:sym typeface="+mn-ea"/>
              </a:rPr>
              <a:t>sisa</a:t>
            </a:r>
            <a:r>
              <a:rPr lang="en-US" sz="2500" dirty="0">
                <a:latin typeface="Comic Sans MS" panose="030F0702030302020204" pitchFamily="66" charset="0"/>
                <a:cs typeface="Arial" panose="020B0604020202020204" pitchFamily="34" charset="0"/>
                <a:sym typeface="+mn-ea"/>
              </a:rPr>
              <a:t>: </a:t>
            </a:r>
            <a:r>
              <a:rPr lang="en-US" sz="2500" dirty="0" err="1">
                <a:latin typeface="Comic Sans MS" panose="030F0702030302020204" pitchFamily="66" charset="0"/>
                <a:cs typeface="Arial" panose="020B0604020202020204" pitchFamily="34" charset="0"/>
                <a:sym typeface="+mn-ea"/>
              </a:rPr>
              <a:t>yaitu</a:t>
            </a:r>
            <a:r>
              <a:rPr lang="en-US" sz="2500" dirty="0">
                <a:latin typeface="Comic Sans MS" panose="030F0702030302020204" pitchFamily="66" charset="0"/>
                <a:cs typeface="Arial" panose="020B0604020202020204" pitchFamily="34" charset="0"/>
                <a:sym typeface="+mn-ea"/>
              </a:rPr>
              <a:t>, Ayat-</a:t>
            </a:r>
            <a:r>
              <a:rPr lang="en-US" sz="2500" dirty="0" err="1">
                <a:latin typeface="Comic Sans MS" panose="030F0702030302020204" pitchFamily="66" charset="0"/>
                <a:cs typeface="Arial" panose="020B0604020202020204" pitchFamily="34" charset="0"/>
                <a:sym typeface="+mn-ea"/>
              </a:rPr>
              <a:t>ayat</a:t>
            </a:r>
            <a:r>
              <a:rPr lang="en-US" sz="2500" dirty="0">
                <a:latin typeface="Comic Sans MS" panose="030F0702030302020204" pitchFamily="66" charset="0"/>
                <a:cs typeface="Arial" panose="020B0604020202020204" pitchFamily="34" charset="0"/>
                <a:sym typeface="+mn-ea"/>
              </a:rPr>
              <a:t> yang </a:t>
            </a:r>
            <a:r>
              <a:rPr lang="en-US" sz="2500" dirty="0" err="1">
                <a:latin typeface="Comic Sans MS" panose="030F0702030302020204" pitchFamily="66" charset="0"/>
                <a:cs typeface="Arial" panose="020B0604020202020204" pitchFamily="34" charset="0"/>
                <a:sym typeface="+mn-ea"/>
              </a:rPr>
              <a:t>muh-kamah</a:t>
            </a:r>
            <a:r>
              <a:rPr lang="en-US" sz="2500" dirty="0">
                <a:latin typeface="Comic Sans MS" panose="030F0702030302020204" pitchFamily="66" charset="0"/>
                <a:cs typeface="Arial" panose="020B0604020202020204" pitchFamily="34" charset="0"/>
                <a:sym typeface="+mn-ea"/>
              </a:rPr>
              <a:t>(</a:t>
            </a:r>
            <a:r>
              <a:rPr lang="en-US" sz="2500" dirty="0" err="1">
                <a:latin typeface="Comic Sans MS" panose="030F0702030302020204" pitchFamily="66" charset="0"/>
                <a:cs typeface="Arial" panose="020B0604020202020204" pitchFamily="34" charset="0"/>
                <a:sym typeface="+mn-ea"/>
              </a:rPr>
              <a:t>jelas&amp;pasti</a:t>
            </a:r>
            <a:r>
              <a:rPr lang="en-US" sz="2500" dirty="0">
                <a:latin typeface="Comic Sans MS" panose="030F0702030302020204" pitchFamily="66" charset="0"/>
                <a:cs typeface="Arial" panose="020B0604020202020204" pitchFamily="34" charset="0"/>
                <a:sym typeface="+mn-ea"/>
              </a:rPr>
              <a:t>), </a:t>
            </a:r>
            <a:r>
              <a:rPr lang="en-US" sz="2500" dirty="0" err="1">
                <a:latin typeface="Comic Sans MS" panose="030F0702030302020204" pitchFamily="66" charset="0"/>
                <a:cs typeface="Arial" panose="020B0604020202020204" pitchFamily="34" charset="0"/>
                <a:sym typeface="+mn-ea"/>
              </a:rPr>
              <a:t>Sunah</a:t>
            </a:r>
            <a:r>
              <a:rPr lang="en-US" sz="2500" dirty="0">
                <a:latin typeface="Comic Sans MS" panose="030F0702030302020204" pitchFamily="66" charset="0"/>
                <a:cs typeface="Arial" panose="020B0604020202020204" pitchFamily="34" charset="0"/>
                <a:sym typeface="+mn-ea"/>
              </a:rPr>
              <a:t> yang </a:t>
            </a:r>
            <a:r>
              <a:rPr lang="en-US" sz="2500" dirty="0" err="1">
                <a:latin typeface="Comic Sans MS" panose="030F0702030302020204" pitchFamily="66" charset="0"/>
                <a:cs typeface="Arial" panose="020B0604020202020204" pitchFamily="34" charset="0"/>
                <a:sym typeface="+mn-ea"/>
              </a:rPr>
              <a:t>dilaksanakan</a:t>
            </a:r>
            <a:r>
              <a:rPr lang="en-US" sz="2500" dirty="0">
                <a:latin typeface="Comic Sans MS" panose="030F0702030302020204" pitchFamily="66" charset="0"/>
                <a:cs typeface="Arial" panose="020B0604020202020204" pitchFamily="34" charset="0"/>
                <a:sym typeface="+mn-ea"/>
              </a:rPr>
              <a:t>, dan </a:t>
            </a:r>
            <a:r>
              <a:rPr lang="en-US" sz="2500" dirty="0" err="1">
                <a:latin typeface="Comic Sans MS" panose="030F0702030302020204" pitchFamily="66" charset="0"/>
                <a:cs typeface="Arial" panose="020B0604020202020204" pitchFamily="34" charset="0"/>
                <a:sym typeface="+mn-ea"/>
              </a:rPr>
              <a:t>ilmu</a:t>
            </a:r>
            <a:r>
              <a:rPr lang="en-US" sz="2500" dirty="0">
                <a:latin typeface="Comic Sans MS" panose="030F0702030302020204" pitchFamily="66" charset="0"/>
                <a:cs typeface="Arial" panose="020B0604020202020204" pitchFamily="34" charset="0"/>
                <a:sym typeface="+mn-ea"/>
              </a:rPr>
              <a:t> </a:t>
            </a:r>
            <a:r>
              <a:rPr lang="en-US" sz="2500" dirty="0" err="1">
                <a:latin typeface="Comic Sans MS" panose="030F0702030302020204" pitchFamily="66" charset="0"/>
                <a:cs typeface="Arial" panose="020B0604020202020204" pitchFamily="34" charset="0"/>
                <a:sym typeface="+mn-ea"/>
              </a:rPr>
              <a:t>mawaariits</a:t>
            </a:r>
            <a:r>
              <a:rPr lang="en-US" sz="2500" dirty="0">
                <a:latin typeface="Comic Sans MS" panose="030F0702030302020204" pitchFamily="66" charset="0"/>
                <a:cs typeface="Arial" panose="020B0604020202020204" pitchFamily="34" charset="0"/>
                <a:sym typeface="+mn-ea"/>
              </a:rPr>
              <a:t> yang </a:t>
            </a:r>
            <a:r>
              <a:rPr lang="en-US" sz="2500" dirty="0" err="1">
                <a:latin typeface="Comic Sans MS" panose="030F0702030302020204" pitchFamily="66" charset="0"/>
                <a:cs typeface="Arial" panose="020B0604020202020204" pitchFamily="34" charset="0"/>
                <a:sym typeface="+mn-ea"/>
              </a:rPr>
              <a:t>adil</a:t>
            </a:r>
            <a:r>
              <a:rPr lang="en-US" sz="2500" dirty="0">
                <a:latin typeface="Comic Sans MS" panose="030F0702030302020204" pitchFamily="66" charset="0"/>
                <a:cs typeface="Arial" panose="020B0604020202020204" pitchFamily="34" charset="0"/>
                <a:sym typeface="+mn-ea"/>
              </a:rPr>
              <a:t>”</a:t>
            </a:r>
            <a:r>
              <a:rPr lang="en-US" sz="2500" b="1" dirty="0">
                <a:sym typeface="+mn-ea"/>
              </a:rPr>
              <a:t>(Riwayat </a:t>
            </a:r>
            <a:r>
              <a:rPr lang="en-US" sz="2500" b="1" dirty="0" err="1">
                <a:sym typeface="+mn-ea"/>
              </a:rPr>
              <a:t>dengan</a:t>
            </a:r>
            <a:r>
              <a:rPr lang="en-US" sz="2500" b="1" dirty="0">
                <a:sym typeface="+mn-ea"/>
              </a:rPr>
              <a:t> </a:t>
            </a:r>
            <a:r>
              <a:rPr lang="en-US" sz="2500" b="1" dirty="0" err="1">
                <a:sym typeface="+mn-ea"/>
              </a:rPr>
              <a:t>sanad</a:t>
            </a:r>
            <a:r>
              <a:rPr lang="en-US" sz="2500" b="1" dirty="0">
                <a:sym typeface="+mn-ea"/>
              </a:rPr>
              <a:t> yang </a:t>
            </a:r>
            <a:r>
              <a:rPr lang="en-US" sz="2500" b="1" dirty="0" err="1">
                <a:sym typeface="+mn-ea"/>
              </a:rPr>
              <a:t>shahih</a:t>
            </a:r>
            <a:r>
              <a:rPr lang="en-US" sz="2500" b="1" dirty="0">
                <a:sym typeface="+mn-ea"/>
              </a:rPr>
              <a:t> </a:t>
            </a:r>
            <a:r>
              <a:rPr lang="en-US" sz="2500" b="1" dirty="0" err="1">
                <a:sym typeface="+mn-ea"/>
              </a:rPr>
              <a:t>dari</a:t>
            </a:r>
            <a:r>
              <a:rPr lang="en-US" sz="2500" b="1" dirty="0">
                <a:sym typeface="+mn-ea"/>
              </a:rPr>
              <a:t> Nabi SAW). </a:t>
            </a:r>
            <a:endParaRPr lang="en-US" sz="2500" dirty="0"/>
          </a:p>
        </p:txBody>
      </p:sp>
      <p:sp>
        <p:nvSpPr>
          <p:cNvPr id="3" name="Title 2"/>
          <p:cNvSpPr>
            <a:spLocks noGrp="1"/>
          </p:cNvSpPr>
          <p:nvPr>
            <p:ph type="title"/>
          </p:nvPr>
        </p:nvSpPr>
        <p:spPr/>
        <p:txBody>
          <a:bodyPr>
            <a:normAutofit fontScale="90000"/>
          </a:bodyPr>
          <a:lstStyle/>
          <a:p>
            <a:r>
              <a:rPr lang="en-US" b="1" dirty="0" err="1">
                <a:sym typeface="+mn-ea"/>
              </a:rPr>
              <a:t>Perintah</a:t>
            </a:r>
            <a:r>
              <a:rPr lang="en-US" b="1" dirty="0">
                <a:sym typeface="+mn-ea"/>
              </a:rPr>
              <a:t> </a:t>
            </a:r>
            <a:r>
              <a:rPr lang="en-US" b="1" dirty="0" err="1">
                <a:sym typeface="+mn-ea"/>
              </a:rPr>
              <a:t>mempelajari</a:t>
            </a:r>
            <a:r>
              <a:rPr lang="en-US" b="1" dirty="0">
                <a:sym typeface="+mn-ea"/>
              </a:rPr>
              <a:t> </a:t>
            </a:r>
            <a:r>
              <a:rPr lang="en-US" b="1" dirty="0" err="1">
                <a:sym typeface="+mn-ea"/>
              </a:rPr>
              <a:t>dan</a:t>
            </a:r>
            <a:r>
              <a:rPr lang="en-US" b="1" dirty="0">
                <a:sym typeface="+mn-ea"/>
              </a:rPr>
              <a:t> </a:t>
            </a:r>
            <a:r>
              <a:rPr lang="en-US" b="1" dirty="0" err="1">
                <a:sym typeface="+mn-ea"/>
              </a:rPr>
              <a:t>mendakwahkan</a:t>
            </a:r>
            <a:r>
              <a:rPr lang="en-US" b="1" dirty="0">
                <a:sym typeface="+mn-ea"/>
              </a:rPr>
              <a:t> </a:t>
            </a:r>
            <a:r>
              <a:rPr lang="en-US" b="1" dirty="0" err="1">
                <a:sym typeface="+mn-ea"/>
              </a:rPr>
              <a:t>ilmu</a:t>
            </a:r>
            <a:r>
              <a:rPr lang="en-US" b="1" dirty="0">
                <a:sym typeface="+mn-ea"/>
              </a:rPr>
              <a:t> </a:t>
            </a:r>
            <a:r>
              <a:rPr lang="en-US" b="1" dirty="0" err="1">
                <a:sym typeface="+mn-ea"/>
              </a:rPr>
              <a:t>Faraaidh</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169795"/>
            <a:ext cx="8836025" cy="4459605"/>
          </a:xfrm>
        </p:spPr>
        <p:txBody>
          <a:bodyPr>
            <a:noAutofit/>
          </a:bodyPr>
          <a:lstStyle/>
          <a:p>
            <a:pPr marL="514350" indent="-514350">
              <a:buNone/>
            </a:pPr>
            <a:r>
              <a:rPr lang="en-US" sz="2800" b="1" dirty="0" err="1">
                <a:latin typeface="Comic Sans MS" panose="030F0702030302020204" pitchFamily="66" charset="0"/>
                <a:sym typeface="+mn-ea"/>
              </a:rPr>
              <a:t>Hadits</a:t>
            </a:r>
            <a:r>
              <a:rPr lang="en-US" sz="2800" b="1" dirty="0">
                <a:latin typeface="Comic Sans MS" panose="030F0702030302020204" pitchFamily="66" charset="0"/>
                <a:sym typeface="+mn-ea"/>
              </a:rPr>
              <a:t> (</a:t>
            </a:r>
            <a:r>
              <a:rPr lang="en-US" sz="2800" b="1" dirty="0" err="1">
                <a:latin typeface="Comic Sans MS" panose="030F0702030302020204" pitchFamily="66" charset="0"/>
                <a:sym typeface="+mn-ea"/>
              </a:rPr>
              <a:t>sampaikan</a:t>
            </a:r>
            <a:r>
              <a:rPr lang="en-US" sz="2800" b="1" dirty="0">
                <a:latin typeface="Comic Sans MS" panose="030F0702030302020204" pitchFamily="66" charset="0"/>
                <a:sym typeface="+mn-ea"/>
              </a:rPr>
              <a:t> </a:t>
            </a:r>
            <a:r>
              <a:rPr lang="en-US" sz="2800" b="1" dirty="0" err="1">
                <a:latin typeface="Comic Sans MS" panose="030F0702030302020204" pitchFamily="66" charset="0"/>
                <a:sym typeface="+mn-ea"/>
              </a:rPr>
              <a:t>kpd</a:t>
            </a:r>
            <a:r>
              <a:rPr lang="en-US" sz="2800" b="1" dirty="0">
                <a:latin typeface="Comic Sans MS" panose="030F0702030302020204" pitchFamily="66" charset="0"/>
                <a:sym typeface="+mn-ea"/>
              </a:rPr>
              <a:t> yang </a:t>
            </a:r>
            <a:r>
              <a:rPr lang="en-US" sz="2800" b="1" dirty="0" err="1">
                <a:latin typeface="Comic Sans MS" panose="030F0702030302020204" pitchFamily="66" charset="0"/>
                <a:sym typeface="+mn-ea"/>
              </a:rPr>
              <a:t>ber</a:t>
            </a:r>
            <a:r>
              <a:rPr lang="en-US" sz="2800" b="1" dirty="0">
                <a:latin typeface="Comic Sans MS" panose="030F0702030302020204" pitchFamily="66" charset="0"/>
                <a:sym typeface="+mn-ea"/>
              </a:rPr>
              <a:t> </a:t>
            </a:r>
            <a:r>
              <a:rPr lang="en-US" sz="2800" b="1" dirty="0" err="1">
                <a:latin typeface="Comic Sans MS" panose="030F0702030302020204" pitchFamily="66" charset="0"/>
                <a:sym typeface="+mn-ea"/>
              </a:rPr>
              <a:t>hak</a:t>
            </a:r>
            <a:r>
              <a:rPr lang="en-US" sz="2800" b="1" dirty="0">
                <a:latin typeface="Comic Sans MS" panose="030F0702030302020204" pitchFamily="66" charset="0"/>
                <a:sym typeface="+mn-ea"/>
              </a:rPr>
              <a:t>)</a:t>
            </a:r>
            <a:endParaRPr lang="en-US" sz="2800" b="1" dirty="0">
              <a:latin typeface="Comic Sans MS" panose="030F0702030302020204" pitchFamily="66" charset="0"/>
            </a:endParaRPr>
          </a:p>
          <a:p>
            <a:pPr marL="514350" indent="-514350"/>
            <a:r>
              <a:rPr lang="en-US" sz="2800" i="1" dirty="0">
                <a:solidFill>
                  <a:srgbClr val="0070C0"/>
                </a:solidFill>
                <a:latin typeface="Comic Sans MS" panose="030F0702030302020204" pitchFamily="66" charset="0"/>
                <a:sym typeface="+mn-ea"/>
              </a:rPr>
              <a:t>“</a:t>
            </a:r>
            <a:r>
              <a:rPr lang="en-US" sz="2800" i="1" dirty="0" err="1">
                <a:solidFill>
                  <a:srgbClr val="0070C0"/>
                </a:solidFill>
                <a:latin typeface="Comic Sans MS" panose="030F0702030302020204" pitchFamily="66" charset="0"/>
                <a:sym typeface="+mn-ea"/>
              </a:rPr>
              <a:t>Berikanlah</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bagian-bagian</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tertentu</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kepada</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orang-orang</a:t>
            </a:r>
            <a:r>
              <a:rPr lang="en-US" sz="2800" i="1" dirty="0">
                <a:solidFill>
                  <a:srgbClr val="0070C0"/>
                </a:solidFill>
                <a:latin typeface="Comic Sans MS" panose="030F0702030302020204" pitchFamily="66" charset="0"/>
                <a:sym typeface="+mn-ea"/>
              </a:rPr>
              <a:t> yang </a:t>
            </a:r>
            <a:r>
              <a:rPr lang="en-US" sz="2800" i="1" dirty="0" err="1">
                <a:solidFill>
                  <a:srgbClr val="0070C0"/>
                </a:solidFill>
                <a:latin typeface="Comic Sans MS" panose="030F0702030302020204" pitchFamily="66" charset="0"/>
                <a:sym typeface="+mn-ea"/>
              </a:rPr>
              <a:t>berhak</a:t>
            </a:r>
            <a:r>
              <a:rPr lang="en-US" sz="2800" i="1" dirty="0">
                <a:solidFill>
                  <a:srgbClr val="0070C0"/>
                </a:solidFill>
                <a:latin typeface="Comic Sans MS" panose="030F0702030302020204" pitchFamily="66" charset="0"/>
                <a:sym typeface="+mn-ea"/>
              </a:rPr>
              <a:t>, </a:t>
            </a:r>
            <a:r>
              <a:rPr lang="en-US" sz="2800" i="1" dirty="0" err="1">
                <a:solidFill>
                  <a:srgbClr val="FF0000"/>
                </a:solidFill>
                <a:latin typeface="Comic Sans MS" panose="030F0702030302020204" pitchFamily="66" charset="0"/>
                <a:sym typeface="+mn-ea"/>
              </a:rPr>
              <a:t>sesudah</a:t>
            </a:r>
            <a:r>
              <a:rPr lang="en-US" sz="2800" i="1" dirty="0">
                <a:solidFill>
                  <a:srgbClr val="FF0000"/>
                </a:solidFill>
                <a:latin typeface="Comic Sans MS" panose="030F0702030302020204" pitchFamily="66" charset="0"/>
                <a:sym typeface="+mn-ea"/>
              </a:rPr>
              <a:t> </a:t>
            </a:r>
            <a:r>
              <a:rPr lang="en-US" sz="2800" i="1" dirty="0" err="1">
                <a:solidFill>
                  <a:srgbClr val="FF0000"/>
                </a:solidFill>
                <a:latin typeface="Comic Sans MS" panose="030F0702030302020204" pitchFamily="66" charset="0"/>
                <a:sym typeface="+mn-ea"/>
              </a:rPr>
              <a:t>itu</a:t>
            </a:r>
            <a:r>
              <a:rPr lang="en-US" sz="2800" i="1" dirty="0">
                <a:solidFill>
                  <a:srgbClr val="FF0000"/>
                </a:solidFill>
                <a:latin typeface="Comic Sans MS" panose="030F0702030302020204" pitchFamily="66" charset="0"/>
                <a:sym typeface="+mn-ea"/>
              </a:rPr>
              <a:t> </a:t>
            </a:r>
            <a:r>
              <a:rPr lang="en-US" sz="2800" i="1" dirty="0" err="1">
                <a:solidFill>
                  <a:srgbClr val="FF0000"/>
                </a:solidFill>
                <a:latin typeface="Comic Sans MS" panose="030F0702030302020204" pitchFamily="66" charset="0"/>
                <a:sym typeface="+mn-ea"/>
              </a:rPr>
              <a:t>sisanya</a:t>
            </a:r>
            <a:r>
              <a:rPr lang="en-US" sz="2800" i="1" dirty="0">
                <a:solidFill>
                  <a:srgbClr val="FF0000"/>
                </a:solidFill>
                <a:latin typeface="Comic Sans MS" panose="030F0702030302020204" pitchFamily="66" charset="0"/>
                <a:sym typeface="+mn-ea"/>
              </a:rPr>
              <a:t> </a:t>
            </a:r>
            <a:r>
              <a:rPr lang="en-US" sz="2800" i="1" dirty="0" err="1">
                <a:solidFill>
                  <a:srgbClr val="FF0000"/>
                </a:solidFill>
                <a:latin typeface="Comic Sans MS" panose="030F0702030302020204" pitchFamily="66" charset="0"/>
                <a:sym typeface="+mn-ea"/>
              </a:rPr>
              <a:t>untuk</a:t>
            </a:r>
            <a:r>
              <a:rPr lang="en-US" sz="2800" i="1" dirty="0">
                <a:solidFill>
                  <a:srgbClr val="FF0000"/>
                </a:solidFill>
                <a:latin typeface="Comic Sans MS" panose="030F0702030302020204" pitchFamily="66" charset="0"/>
                <a:sym typeface="+mn-ea"/>
              </a:rPr>
              <a:t> </a:t>
            </a:r>
            <a:r>
              <a:rPr lang="en-US" sz="2800" i="1" dirty="0" err="1">
                <a:solidFill>
                  <a:srgbClr val="FF0000"/>
                </a:solidFill>
                <a:latin typeface="Comic Sans MS" panose="030F0702030302020204" pitchFamily="66" charset="0"/>
                <a:sym typeface="+mn-ea"/>
              </a:rPr>
              <a:t>orang</a:t>
            </a:r>
            <a:r>
              <a:rPr lang="en-US" sz="2800" i="1" dirty="0">
                <a:solidFill>
                  <a:srgbClr val="FF0000"/>
                </a:solidFill>
                <a:latin typeface="Comic Sans MS" panose="030F0702030302020204" pitchFamily="66" charset="0"/>
                <a:sym typeface="+mn-ea"/>
              </a:rPr>
              <a:t> </a:t>
            </a:r>
            <a:r>
              <a:rPr lang="en-US" sz="2800" i="1" dirty="0" err="1">
                <a:solidFill>
                  <a:srgbClr val="FF0000"/>
                </a:solidFill>
                <a:latin typeface="Comic Sans MS" panose="030F0702030302020204" pitchFamily="66" charset="0"/>
                <a:sym typeface="+mn-ea"/>
              </a:rPr>
              <a:t>laki-laki</a:t>
            </a:r>
            <a:r>
              <a:rPr lang="en-US" sz="2800" i="1" dirty="0">
                <a:solidFill>
                  <a:srgbClr val="FF0000"/>
                </a:solidFill>
                <a:latin typeface="Comic Sans MS" panose="030F0702030302020204" pitchFamily="66" charset="0"/>
                <a:sym typeface="+mn-ea"/>
              </a:rPr>
              <a:t> yang </a:t>
            </a:r>
            <a:r>
              <a:rPr lang="en-US" sz="2800" i="1" dirty="0" err="1">
                <a:solidFill>
                  <a:srgbClr val="FF0000"/>
                </a:solidFill>
                <a:latin typeface="Comic Sans MS" panose="030F0702030302020204" pitchFamily="66" charset="0"/>
                <a:sym typeface="+mn-ea"/>
              </a:rPr>
              <a:t>lebih</a:t>
            </a:r>
            <a:r>
              <a:rPr lang="en-US" sz="2800" i="1" dirty="0">
                <a:solidFill>
                  <a:srgbClr val="FF0000"/>
                </a:solidFill>
                <a:latin typeface="Comic Sans MS" panose="030F0702030302020204" pitchFamily="66" charset="0"/>
                <a:sym typeface="+mn-ea"/>
              </a:rPr>
              <a:t> </a:t>
            </a:r>
            <a:r>
              <a:rPr lang="en-US" sz="2800" i="1" dirty="0" err="1">
                <a:solidFill>
                  <a:srgbClr val="FF0000"/>
                </a:solidFill>
                <a:latin typeface="Comic Sans MS" panose="030F0702030302020204" pitchFamily="66" charset="0"/>
                <a:sym typeface="+mn-ea"/>
              </a:rPr>
              <a:t>utama</a:t>
            </a:r>
            <a:r>
              <a:rPr lang="en-US" sz="2800" i="1" dirty="0">
                <a:solidFill>
                  <a:srgbClr val="FF0000"/>
                </a:solidFill>
                <a:latin typeface="Comic Sans MS" panose="030F0702030302020204" pitchFamily="66" charset="0"/>
                <a:sym typeface="+mn-ea"/>
              </a:rPr>
              <a:t> </a:t>
            </a:r>
            <a:r>
              <a:rPr lang="en-US" sz="2800" i="1" dirty="0">
                <a:solidFill>
                  <a:srgbClr val="0070C0"/>
                </a:solidFill>
                <a:latin typeface="Comic Sans MS" panose="030F0702030302020204" pitchFamily="66" charset="0"/>
                <a:sym typeface="+mn-ea"/>
              </a:rPr>
              <a:t>(</a:t>
            </a:r>
            <a:r>
              <a:rPr lang="en-US" sz="2800" i="1" dirty="0" err="1">
                <a:solidFill>
                  <a:srgbClr val="0070C0"/>
                </a:solidFill>
                <a:latin typeface="Comic Sans MS" panose="030F0702030302020204" pitchFamily="66" charset="0"/>
                <a:sym typeface="+mn-ea"/>
              </a:rPr>
              <a:t>dekat</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kekerabatannya</a:t>
            </a:r>
            <a:r>
              <a:rPr lang="en-US" sz="2800" i="1" dirty="0">
                <a:solidFill>
                  <a:srgbClr val="0070C0"/>
                </a:solidFill>
                <a:latin typeface="Comic Sans MS" panose="030F0702030302020204" pitchFamily="66" charset="0"/>
                <a:sym typeface="+mn-ea"/>
              </a:rPr>
              <a:t>)”</a:t>
            </a:r>
            <a:r>
              <a:rPr lang="en-US" sz="2800" dirty="0">
                <a:solidFill>
                  <a:srgbClr val="0070C0"/>
                </a:solidFill>
                <a:latin typeface="Comic Sans MS" panose="030F0702030302020204" pitchFamily="66" charset="0"/>
                <a:sym typeface="+mn-ea"/>
              </a:rPr>
              <a:t>.</a:t>
            </a:r>
            <a:r>
              <a:rPr lang="en-US" sz="2800" dirty="0">
                <a:latin typeface="Comic Sans MS" panose="030F0702030302020204" pitchFamily="66" charset="0"/>
                <a:sym typeface="+mn-ea"/>
              </a:rPr>
              <a:t> (H.R. </a:t>
            </a:r>
            <a:r>
              <a:rPr lang="en-US" sz="2800" dirty="0" err="1">
                <a:latin typeface="Comic Sans MS" panose="030F0702030302020204" pitchFamily="66" charset="0"/>
                <a:sym typeface="+mn-ea"/>
              </a:rPr>
              <a:t>Bukhari</a:t>
            </a:r>
            <a:r>
              <a:rPr lang="en-US" sz="2800" dirty="0">
                <a:latin typeface="Comic Sans MS" panose="030F0702030302020204" pitchFamily="66" charset="0"/>
                <a:sym typeface="+mn-ea"/>
              </a:rPr>
              <a:t> </a:t>
            </a:r>
            <a:r>
              <a:rPr lang="en-US" sz="2800" dirty="0" err="1">
                <a:latin typeface="Comic Sans MS" panose="030F0702030302020204" pitchFamily="66" charset="0"/>
                <a:sym typeface="+mn-ea"/>
              </a:rPr>
              <a:t>dan</a:t>
            </a:r>
            <a:r>
              <a:rPr lang="en-US" sz="2800" dirty="0">
                <a:latin typeface="Comic Sans MS" panose="030F0702030302020204" pitchFamily="66" charset="0"/>
                <a:sym typeface="+mn-ea"/>
              </a:rPr>
              <a:t> Muslim).</a:t>
            </a:r>
            <a:endParaRPr lang="en-US" sz="2800" dirty="0">
              <a:latin typeface="Comic Sans MS" panose="030F0702030302020204" pitchFamily="66" charset="0"/>
            </a:endParaRPr>
          </a:p>
          <a:p>
            <a:pPr marL="0" indent="0">
              <a:buNone/>
            </a:pPr>
            <a:endParaRPr lang="en-US" sz="2800" i="1" dirty="0">
              <a:solidFill>
                <a:srgbClr val="0070C0"/>
              </a:solidFill>
              <a:latin typeface="Comic Sans MS" panose="030F0702030302020204" pitchFamily="66" charset="0"/>
              <a:sym typeface="+mn-ea"/>
            </a:endParaRPr>
          </a:p>
          <a:p>
            <a:r>
              <a:rPr lang="en-US" sz="2800" i="1" dirty="0">
                <a:solidFill>
                  <a:srgbClr val="0070C0"/>
                </a:solidFill>
                <a:latin typeface="Comic Sans MS" panose="030F0702030302020204" pitchFamily="66" charset="0"/>
                <a:sym typeface="+mn-ea"/>
              </a:rPr>
              <a:t>“</a:t>
            </a:r>
            <a:r>
              <a:rPr lang="en-US" sz="2800" i="1" dirty="0" err="1">
                <a:solidFill>
                  <a:srgbClr val="0070C0"/>
                </a:solidFill>
                <a:latin typeface="Comic Sans MS" panose="030F0702030302020204" pitchFamily="66" charset="0"/>
                <a:sym typeface="+mn-ea"/>
              </a:rPr>
              <a:t>Orang</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muslim</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tidak</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berhak</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mewarisi</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orang</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kafir</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dan</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orang</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kafir</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tidak</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berhak</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mewarisi</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orang</a:t>
            </a:r>
            <a:r>
              <a:rPr lang="en-US" sz="2800" i="1" dirty="0">
                <a:solidFill>
                  <a:srgbClr val="0070C0"/>
                </a:solidFill>
                <a:latin typeface="Comic Sans MS" panose="030F0702030302020204" pitchFamily="66" charset="0"/>
                <a:sym typeface="+mn-ea"/>
              </a:rPr>
              <a:t> </a:t>
            </a:r>
            <a:r>
              <a:rPr lang="en-US" sz="2800" i="1" dirty="0" err="1">
                <a:solidFill>
                  <a:srgbClr val="0070C0"/>
                </a:solidFill>
                <a:latin typeface="Comic Sans MS" panose="030F0702030302020204" pitchFamily="66" charset="0"/>
                <a:sym typeface="+mn-ea"/>
              </a:rPr>
              <a:t>muslim</a:t>
            </a:r>
            <a:r>
              <a:rPr lang="en-US" sz="2800" i="1" dirty="0">
                <a:solidFill>
                  <a:srgbClr val="0070C0"/>
                </a:solidFill>
                <a:latin typeface="Comic Sans MS" panose="030F0702030302020204" pitchFamily="66" charset="0"/>
                <a:sym typeface="+mn-ea"/>
              </a:rPr>
              <a:t>.”</a:t>
            </a:r>
            <a:r>
              <a:rPr lang="en-US" sz="2800" dirty="0">
                <a:solidFill>
                  <a:srgbClr val="0070C0"/>
                </a:solidFill>
                <a:latin typeface="Comic Sans MS" panose="030F0702030302020204" pitchFamily="66" charset="0"/>
                <a:sym typeface="+mn-ea"/>
              </a:rPr>
              <a:t> </a:t>
            </a:r>
            <a:r>
              <a:rPr lang="en-US" sz="2800" dirty="0">
                <a:latin typeface="Comic Sans MS" panose="030F0702030302020204" pitchFamily="66" charset="0"/>
                <a:sym typeface="+mn-ea"/>
              </a:rPr>
              <a:t>(H.R. </a:t>
            </a:r>
            <a:r>
              <a:rPr lang="en-US" sz="2800" dirty="0" err="1">
                <a:latin typeface="Comic Sans MS" panose="030F0702030302020204" pitchFamily="66" charset="0"/>
                <a:sym typeface="+mn-ea"/>
              </a:rPr>
              <a:t>Bukhari</a:t>
            </a:r>
            <a:r>
              <a:rPr lang="en-US" sz="2800" dirty="0">
                <a:latin typeface="Comic Sans MS" panose="030F0702030302020204" pitchFamily="66" charset="0"/>
                <a:sym typeface="+mn-ea"/>
              </a:rPr>
              <a:t> </a:t>
            </a:r>
            <a:r>
              <a:rPr lang="en-US" sz="2800" dirty="0" err="1">
                <a:latin typeface="Comic Sans MS" panose="030F0702030302020204" pitchFamily="66" charset="0"/>
                <a:sym typeface="+mn-ea"/>
              </a:rPr>
              <a:t>dan</a:t>
            </a:r>
            <a:r>
              <a:rPr lang="en-US" sz="2800" dirty="0">
                <a:latin typeface="Comic Sans MS" panose="030F0702030302020204" pitchFamily="66" charset="0"/>
                <a:sym typeface="+mn-ea"/>
              </a:rPr>
              <a:t> Muslim).</a:t>
            </a:r>
          </a:p>
        </p:txBody>
      </p:sp>
      <p:sp>
        <p:nvSpPr>
          <p:cNvPr id="3" name="Title 2"/>
          <p:cNvSpPr>
            <a:spLocks noGrp="1"/>
          </p:cNvSpPr>
          <p:nvPr>
            <p:ph type="title"/>
          </p:nvPr>
        </p:nvSpPr>
        <p:spPr/>
        <p:txBody>
          <a:bodyPr>
            <a:normAutofit fontScale="90000"/>
          </a:bodyPr>
          <a:lstStyle/>
          <a:p>
            <a:r>
              <a:rPr lang="en-US" b="1" dirty="0" err="1">
                <a:sym typeface="+mn-ea"/>
              </a:rPr>
              <a:t>Perintah</a:t>
            </a:r>
            <a:r>
              <a:rPr lang="en-US" b="1" dirty="0">
                <a:sym typeface="+mn-ea"/>
              </a:rPr>
              <a:t> untuk melaksanakan </a:t>
            </a:r>
            <a:r>
              <a:rPr lang="en-US" b="1" dirty="0" err="1">
                <a:sym typeface="+mn-ea"/>
              </a:rPr>
              <a:t>ilmu</a:t>
            </a:r>
            <a:r>
              <a:rPr lang="en-US" b="1" dirty="0">
                <a:sym typeface="+mn-ea"/>
              </a:rPr>
              <a:t> </a:t>
            </a:r>
            <a:r>
              <a:rPr lang="en-US" b="1" dirty="0" err="1">
                <a:sym typeface="+mn-ea"/>
              </a:rPr>
              <a:t>Faraaidh</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F13311-E7B1-5083-6DB0-E9EA009AFD27}"/>
              </a:ext>
            </a:extLst>
          </p:cNvPr>
          <p:cNvSpPr>
            <a:spLocks noGrp="1"/>
          </p:cNvSpPr>
          <p:nvPr>
            <p:ph type="title"/>
          </p:nvPr>
        </p:nvSpPr>
        <p:spPr>
          <a:xfrm>
            <a:off x="457200" y="338328"/>
            <a:ext cx="8229600" cy="1414272"/>
          </a:xfrm>
        </p:spPr>
        <p:txBody>
          <a:bodyPr>
            <a:normAutofit fontScale="90000"/>
          </a:bodyPr>
          <a:lstStyle/>
          <a:p>
            <a:r>
              <a:rPr lang="en-US" dirty="0" err="1"/>
              <a:t>Berikan</a:t>
            </a:r>
            <a:r>
              <a:rPr lang="en-US" dirty="0"/>
              <a:t> </a:t>
            </a:r>
            <a:r>
              <a:rPr lang="en-US" dirty="0" err="1"/>
              <a:t>warisan</a:t>
            </a:r>
            <a:r>
              <a:rPr lang="en-US" dirty="0"/>
              <a:t> </a:t>
            </a:r>
            <a:r>
              <a:rPr lang="en-US" dirty="0" err="1"/>
              <a:t>kpd</a:t>
            </a:r>
            <a:r>
              <a:rPr lang="en-US" dirty="0"/>
              <a:t> yang </a:t>
            </a:r>
            <a:r>
              <a:rPr lang="en-US" dirty="0" err="1"/>
              <a:t>berhak</a:t>
            </a:r>
            <a:r>
              <a:rPr lang="en-US" dirty="0"/>
              <a:t> </a:t>
            </a:r>
            <a:r>
              <a:rPr lang="en-US" dirty="0" err="1"/>
              <a:t>sesuai</a:t>
            </a:r>
            <a:r>
              <a:rPr lang="en-US" dirty="0"/>
              <a:t> </a:t>
            </a:r>
            <a:r>
              <a:rPr lang="en-US" dirty="0" err="1"/>
              <a:t>ketentuan</a:t>
            </a:r>
            <a:endParaRPr lang="en-ID" dirty="0"/>
          </a:p>
        </p:txBody>
      </p:sp>
      <p:sp>
        <p:nvSpPr>
          <p:cNvPr id="4" name="Content Placeholder 2">
            <a:extLst>
              <a:ext uri="{FF2B5EF4-FFF2-40B4-BE49-F238E27FC236}">
                <a16:creationId xmlns:a16="http://schemas.microsoft.com/office/drawing/2014/main" id="{9B0FAE5F-3A6A-96DE-3306-7B5C905B41B5}"/>
              </a:ext>
            </a:extLst>
          </p:cNvPr>
          <p:cNvSpPr txBox="1">
            <a:spLocks/>
          </p:cNvSpPr>
          <p:nvPr/>
        </p:nvSpPr>
        <p:spPr>
          <a:xfrm>
            <a:off x="304800" y="2362200"/>
            <a:ext cx="8458200" cy="3657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Barangsiapa</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yg</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memotong</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hak</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warisan</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salah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satu</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ahli</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warisnya</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mk</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Allah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akan</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memotong</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hak</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warisnya</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dari</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surga</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pd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hari</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kiamat</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nanti</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p>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[HR Ibnu Majah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dari</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Anas bin Malik </a:t>
            </a:r>
            <a:r>
              <a:rPr kumimoji="0" lang="en-US" sz="2800" b="1" i="0" u="none" strike="noStrike" kern="1200" cap="none" spc="0" normalizeH="0" baseline="0" noProof="0" dirty="0" err="1">
                <a:ln>
                  <a:noFill/>
                </a:ln>
                <a:solidFill>
                  <a:sysClr val="windowText" lastClr="000000"/>
                </a:solidFill>
                <a:effectLst/>
                <a:uLnTx/>
                <a:uFillTx/>
                <a:latin typeface="Calibri"/>
                <a:ea typeface="+mn-ea"/>
                <a:cs typeface="+mn-cs"/>
              </a:rPr>
              <a:t>r.a.</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a:t>
            </a:r>
          </a:p>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9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ysClr val="windowText" lastClr="000000"/>
                </a:solidFill>
                <a:effectLst/>
                <a:uLnTx/>
                <a:uFillTx/>
                <a:latin typeface="Calibri"/>
                <a:ea typeface="+mn-ea"/>
                <a:cs typeface="+mn-cs"/>
              </a:rPr>
              <a:t>“SEGERA LAKSANAKAN PEMBAGIAN WARIS KETIKA ADA SALAH SATU KELUARGA YANG MENINGGAL,  JANGAN DITUNDA-TUNDA AKAN BERAKIBAT BANYAK MASALAH, DAN TIMBUL FITNAH </a:t>
            </a:r>
            <a:r>
              <a:rPr kumimoji="0" lang="en-US" sz="2400" b="1" i="0" u="none" strike="noStrike" kern="1200" cap="none" spc="0" normalizeH="0" baseline="0" noProof="0" dirty="0" err="1">
                <a:ln>
                  <a:noFill/>
                </a:ln>
                <a:solidFill>
                  <a:sysClr val="windowText" lastClr="000000"/>
                </a:solidFill>
                <a:effectLst/>
                <a:uLnTx/>
                <a:uFillTx/>
                <a:latin typeface="Calibri"/>
                <a:ea typeface="+mn-ea"/>
                <a:cs typeface="+mn-cs"/>
              </a:rPr>
              <a:t>dalam</a:t>
            </a:r>
            <a:r>
              <a:rPr kumimoji="0" lang="en-US" sz="24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1" i="0" u="none" strike="noStrike" kern="1200" cap="none" spc="0" normalizeH="0" baseline="0" noProof="0" dirty="0" err="1">
                <a:ln>
                  <a:noFill/>
                </a:ln>
                <a:solidFill>
                  <a:sysClr val="windowText" lastClr="000000"/>
                </a:solidFill>
                <a:effectLst/>
                <a:uLnTx/>
                <a:uFillTx/>
                <a:latin typeface="Calibri"/>
                <a:ea typeface="+mn-ea"/>
                <a:cs typeface="+mn-cs"/>
              </a:rPr>
              <a:t>keluarga</a:t>
            </a:r>
            <a:r>
              <a:rPr kumimoji="0" lang="en-US" sz="2400" b="1" i="0" u="none" strike="noStrike" kern="1200" cap="none" spc="0" normalizeH="0" baseline="0" noProof="0" dirty="0">
                <a:ln>
                  <a:noFill/>
                </a:ln>
                <a:solidFill>
                  <a:sysClr val="windowText" lastClr="000000"/>
                </a:solidFill>
                <a:effectLst/>
                <a:uLnTx/>
                <a:uFillTx/>
                <a:latin typeface="Calibri"/>
                <a:ea typeface="+mn-ea"/>
                <a:cs typeface="+mn-cs"/>
              </a:rPr>
              <a:t>.”</a:t>
            </a: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948119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DE8CCB-2EEC-F655-A70C-729803DFF283}"/>
              </a:ext>
            </a:extLst>
          </p:cNvPr>
          <p:cNvSpPr>
            <a:spLocks noGrp="1"/>
          </p:cNvSpPr>
          <p:nvPr>
            <p:ph type="title"/>
          </p:nvPr>
        </p:nvSpPr>
        <p:spPr/>
        <p:txBody>
          <a:bodyPr>
            <a:normAutofit fontScale="90000"/>
          </a:bodyPr>
          <a:lstStyle/>
          <a:p>
            <a:r>
              <a:rPr lang="en-US" dirty="0" err="1"/>
              <a:t>Tinggalkan</a:t>
            </a:r>
            <a:r>
              <a:rPr lang="en-US" dirty="0"/>
              <a:t> </a:t>
            </a:r>
            <a:r>
              <a:rPr lang="en-US" dirty="0" err="1"/>
              <a:t>warisan</a:t>
            </a:r>
            <a:br>
              <a:rPr lang="en-US" dirty="0"/>
            </a:br>
            <a:r>
              <a:rPr lang="en-US" dirty="0"/>
              <a:t>; </a:t>
            </a:r>
            <a:r>
              <a:rPr lang="en-US" dirty="0" err="1"/>
              <a:t>jangan</a:t>
            </a:r>
            <a:r>
              <a:rPr lang="en-US" dirty="0"/>
              <a:t> </a:t>
            </a:r>
            <a:r>
              <a:rPr lang="en-US" dirty="0" err="1"/>
              <a:t>tinggalkan</a:t>
            </a:r>
            <a:r>
              <a:rPr lang="en-US" dirty="0"/>
              <a:t> </a:t>
            </a:r>
            <a:r>
              <a:rPr lang="en-US" dirty="0" err="1"/>
              <a:t>hutang</a:t>
            </a:r>
            <a:endParaRPr lang="en-ID" dirty="0"/>
          </a:p>
        </p:txBody>
      </p:sp>
      <p:sp>
        <p:nvSpPr>
          <p:cNvPr id="4" name="Content Placeholder 2">
            <a:extLst>
              <a:ext uri="{FF2B5EF4-FFF2-40B4-BE49-F238E27FC236}">
                <a16:creationId xmlns:a16="http://schemas.microsoft.com/office/drawing/2014/main" id="{F07606CF-3E01-C818-1634-1756F3AC2BA1}"/>
              </a:ext>
            </a:extLst>
          </p:cNvPr>
          <p:cNvSpPr txBox="1">
            <a:spLocks/>
          </p:cNvSpPr>
          <p:nvPr/>
        </p:nvSpPr>
        <p:spPr>
          <a:xfrm>
            <a:off x="381000" y="2590800"/>
            <a:ext cx="8458200" cy="3581400"/>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Sesungguhnya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engkau</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meninggalkan</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para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ahli</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warismu</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dalam</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keadaan</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kaya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lebih</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baik</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drpd</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meninggalkan</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mereka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dlm</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keadaan</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miskin,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meminta-minta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kpd</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orang-orang.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sabda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Rasulullah saw.]</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“Tidak halal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bagi</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seseorang</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memberikan</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sesuatu</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lalu</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memintanya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kembali</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kecuali</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seorang</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ayah yang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memberikan</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sesuatu</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kepada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anaknya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.”[HR Ahmad, Abu Dawud,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Tirmidzi</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Nasa’I</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dan Ibnu Majah.]</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Seorang</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ayah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boleh</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mengambil</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memiliki</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harta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anaknya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selama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tidak</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merugikan</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anak</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dan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anak</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tidak</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membutuhkannya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sesuai</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sabda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Rasulullah saw.</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Sesungguhnya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sesuatu</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yang paling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baik</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yang kalian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makan</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adalah</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hasil</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usaha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kalian, dan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sesungguhnya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anak-anak</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kalian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adalah</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bagian</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dari</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hasil</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usaha</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kalian.”[HR </a:t>
            </a:r>
            <a:r>
              <a:rPr kumimoji="0" lang="en-US" sz="3200" b="0" i="0" u="none" strike="noStrike" kern="1200" cap="none" spc="0" normalizeH="0" baseline="0" noProof="0" dirty="0" err="1">
                <a:ln>
                  <a:noFill/>
                </a:ln>
                <a:solidFill>
                  <a:sysClr val="windowText" lastClr="000000"/>
                </a:solidFill>
                <a:effectLst/>
                <a:uLnTx/>
                <a:uFillTx/>
                <a:latin typeface="Calibri"/>
                <a:ea typeface="+mn-ea"/>
                <a:cs typeface="+mn-cs"/>
              </a:rPr>
              <a:t>Tirmidzi</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a:t>
            </a:r>
          </a:p>
        </p:txBody>
      </p:sp>
    </p:spTree>
    <p:extLst>
      <p:ext uri="{BB962C8B-B14F-4D97-AF65-F5344CB8AC3E}">
        <p14:creationId xmlns:p14="http://schemas.microsoft.com/office/powerpoint/2010/main" val="1457261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325D65-A7D4-0648-B6A1-4FA1B967C632}"/>
              </a:ext>
            </a:extLst>
          </p:cNvPr>
          <p:cNvSpPr>
            <a:spLocks noGrp="1"/>
          </p:cNvSpPr>
          <p:nvPr>
            <p:ph type="title"/>
          </p:nvPr>
        </p:nvSpPr>
        <p:spPr/>
        <p:txBody>
          <a:bodyPr>
            <a:normAutofit fontScale="90000"/>
          </a:bodyPr>
          <a:lstStyle/>
          <a:p>
            <a:r>
              <a:rPr lang="en-US" dirty="0" err="1"/>
              <a:t>Segera</a:t>
            </a:r>
            <a:r>
              <a:rPr lang="en-US" dirty="0"/>
              <a:t> </a:t>
            </a:r>
            <a:r>
              <a:rPr lang="en-US" dirty="0" err="1"/>
              <a:t>bagi</a:t>
            </a:r>
            <a:r>
              <a:rPr lang="en-US" dirty="0"/>
              <a:t> </a:t>
            </a:r>
            <a:r>
              <a:rPr lang="en-US" dirty="0" err="1"/>
              <a:t>waris</a:t>
            </a:r>
            <a:r>
              <a:rPr lang="en-US" dirty="0"/>
              <a:t>, </a:t>
            </a:r>
            <a:r>
              <a:rPr lang="en-US" dirty="0" err="1"/>
              <a:t>ketika</a:t>
            </a:r>
            <a:r>
              <a:rPr lang="en-US" dirty="0"/>
              <a:t> </a:t>
            </a:r>
            <a:r>
              <a:rPr lang="en-US" dirty="0" err="1"/>
              <a:t>ada</a:t>
            </a:r>
            <a:r>
              <a:rPr lang="en-US" dirty="0"/>
              <a:t> salah </a:t>
            </a:r>
            <a:r>
              <a:rPr lang="en-US" dirty="0" err="1"/>
              <a:t>satu</a:t>
            </a:r>
            <a:r>
              <a:rPr lang="en-US" dirty="0"/>
              <a:t> </a:t>
            </a:r>
            <a:r>
              <a:rPr lang="en-US" dirty="0" err="1"/>
              <a:t>ortu</a:t>
            </a:r>
            <a:r>
              <a:rPr lang="en-US" dirty="0"/>
              <a:t> yang </a:t>
            </a:r>
            <a:r>
              <a:rPr lang="en-US" dirty="0" err="1"/>
              <a:t>meninggal</a:t>
            </a:r>
            <a:endParaRPr lang="en-ID" dirty="0"/>
          </a:p>
        </p:txBody>
      </p:sp>
      <p:pic>
        <p:nvPicPr>
          <p:cNvPr id="4" name="Picture 3">
            <a:extLst>
              <a:ext uri="{FF2B5EF4-FFF2-40B4-BE49-F238E27FC236}">
                <a16:creationId xmlns:a16="http://schemas.microsoft.com/office/drawing/2014/main" id="{A2D85B42-01A8-221D-F230-B63182F0BF92}"/>
              </a:ext>
            </a:extLst>
          </p:cNvPr>
          <p:cNvPicPr>
            <a:picLocks noChangeAspect="1"/>
          </p:cNvPicPr>
          <p:nvPr/>
        </p:nvPicPr>
        <p:blipFill>
          <a:blip r:embed="rId2"/>
          <a:stretch>
            <a:fillRect/>
          </a:stretch>
        </p:blipFill>
        <p:spPr>
          <a:xfrm>
            <a:off x="2209800" y="1852763"/>
            <a:ext cx="4724400" cy="4852837"/>
          </a:xfrm>
          <a:prstGeom prst="rect">
            <a:avLst/>
          </a:prstGeom>
        </p:spPr>
      </p:pic>
    </p:spTree>
    <p:extLst>
      <p:ext uri="{BB962C8B-B14F-4D97-AF65-F5344CB8AC3E}">
        <p14:creationId xmlns:p14="http://schemas.microsoft.com/office/powerpoint/2010/main" val="2979318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B42E9-BAD5-CFE1-0773-0B2191CE8352}"/>
              </a:ext>
            </a:extLst>
          </p:cNvPr>
          <p:cNvSpPr>
            <a:spLocks noGrp="1"/>
          </p:cNvSpPr>
          <p:nvPr>
            <p:ph type="title"/>
          </p:nvPr>
        </p:nvSpPr>
        <p:spPr>
          <a:xfrm>
            <a:off x="457200" y="338328"/>
            <a:ext cx="8229600" cy="1490472"/>
          </a:xfrm>
        </p:spPr>
        <p:txBody>
          <a:bodyPr>
            <a:normAutofit fontScale="90000"/>
          </a:bodyPr>
          <a:lstStyle/>
          <a:p>
            <a:r>
              <a:rPr lang="en-US" dirty="0" err="1"/>
              <a:t>Hendaknya</a:t>
            </a:r>
            <a:r>
              <a:rPr lang="en-US" dirty="0"/>
              <a:t> </a:t>
            </a:r>
            <a:r>
              <a:rPr lang="en-US" dirty="0" err="1"/>
              <a:t>ada</a:t>
            </a:r>
            <a:r>
              <a:rPr lang="en-US" dirty="0"/>
              <a:t> </a:t>
            </a:r>
            <a:r>
              <a:rPr lang="en-US" dirty="0" err="1"/>
              <a:t>pilah-pilah</a:t>
            </a:r>
            <a:r>
              <a:rPr lang="en-US" dirty="0"/>
              <a:t> </a:t>
            </a:r>
            <a:r>
              <a:rPr lang="en-US" dirty="0" err="1"/>
              <a:t>harta</a:t>
            </a:r>
            <a:r>
              <a:rPr lang="en-US" dirty="0"/>
              <a:t> pada </a:t>
            </a:r>
            <a:r>
              <a:rPr lang="en-US" dirty="0" err="1"/>
              <a:t>keluarga</a:t>
            </a:r>
            <a:r>
              <a:rPr lang="en-US" dirty="0"/>
              <a:t> </a:t>
            </a:r>
            <a:r>
              <a:rPr lang="en-US" dirty="0" err="1"/>
              <a:t>muslim</a:t>
            </a:r>
            <a:r>
              <a:rPr lang="en-US" dirty="0"/>
              <a:t> (Suami-</a:t>
            </a:r>
            <a:r>
              <a:rPr lang="en-US" dirty="0" err="1"/>
              <a:t>Istri</a:t>
            </a:r>
            <a:r>
              <a:rPr lang="en-US" dirty="0"/>
              <a:t>)</a:t>
            </a:r>
            <a:endParaRPr lang="en-ID" dirty="0"/>
          </a:p>
        </p:txBody>
      </p:sp>
      <p:pic>
        <p:nvPicPr>
          <p:cNvPr id="5" name="Picture 4">
            <a:extLst>
              <a:ext uri="{FF2B5EF4-FFF2-40B4-BE49-F238E27FC236}">
                <a16:creationId xmlns:a16="http://schemas.microsoft.com/office/drawing/2014/main" id="{74436A75-CEF8-8A6A-024F-D804589CF848}"/>
              </a:ext>
            </a:extLst>
          </p:cNvPr>
          <p:cNvPicPr>
            <a:picLocks noChangeAspect="1"/>
          </p:cNvPicPr>
          <p:nvPr/>
        </p:nvPicPr>
        <p:blipFill>
          <a:blip r:embed="rId2"/>
          <a:stretch>
            <a:fillRect/>
          </a:stretch>
        </p:blipFill>
        <p:spPr>
          <a:xfrm>
            <a:off x="977660" y="1800533"/>
            <a:ext cx="7099540" cy="50574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29274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23240" y="1447800"/>
            <a:ext cx="8027670" cy="2306955"/>
          </a:xfrm>
          <a:prstGeom prst="rect">
            <a:avLst/>
          </a:prstGeom>
          <a:noFill/>
        </p:spPr>
        <p:txBody>
          <a:bodyPr wrap="square" rtlCol="0">
            <a:spAutoFit/>
          </a:bodyPr>
          <a:lstStyle/>
          <a:p>
            <a:pPr algn="ctr">
              <a:lnSpc>
                <a:spcPct val="150000"/>
              </a:lnSpc>
            </a:pPr>
            <a:r>
              <a:rPr lang="ar-SA" sz="3200" dirty="0"/>
              <a:t>لِلرِّجَالِ نَصِيْبٌ مِّمَّا تَرَكَ الْوَالِدٰنِ وَالْاَقْرَبُوْنَۖ وَلِلنِّسَاۤءِ نَصِيْبٌ مِّمَّا تَرَكَ الْوَالِدٰنِ وَالْاَقْرَبُوْنَ مِمَّا قَلَّ مِنْهُ اَوْ كَثُرَ ۗ نَصِيْبًا مَّفْرُوْضًا</a:t>
            </a:r>
          </a:p>
        </p:txBody>
      </p:sp>
      <p:sp>
        <p:nvSpPr>
          <p:cNvPr id="5" name="TextBox 4"/>
          <p:cNvSpPr txBox="1"/>
          <p:nvPr/>
        </p:nvSpPr>
        <p:spPr>
          <a:xfrm>
            <a:off x="838200" y="3810000"/>
            <a:ext cx="7543800" cy="2677656"/>
          </a:xfrm>
          <a:prstGeom prst="rect">
            <a:avLst/>
          </a:prstGeom>
          <a:noFill/>
        </p:spPr>
        <p:txBody>
          <a:bodyPr wrap="square" rtlCol="0">
            <a:spAutoFit/>
          </a:bodyPr>
          <a:lstStyle/>
          <a:p>
            <a:pPr algn="ctr"/>
            <a:r>
              <a:rPr lang="en-US" sz="2800" dirty="0" err="1">
                <a:solidFill>
                  <a:schemeClr val="tx1">
                    <a:lumMod val="95000"/>
                    <a:lumOff val="5000"/>
                  </a:schemeClr>
                </a:solidFill>
              </a:rPr>
              <a:t>Bagi</a:t>
            </a:r>
            <a:r>
              <a:rPr lang="en-US" sz="2800" dirty="0">
                <a:solidFill>
                  <a:schemeClr val="tx1">
                    <a:lumMod val="95000"/>
                    <a:lumOff val="5000"/>
                  </a:schemeClr>
                </a:solidFill>
              </a:rPr>
              <a:t> </a:t>
            </a:r>
            <a:r>
              <a:rPr lang="en-US" sz="2800" dirty="0" err="1">
                <a:solidFill>
                  <a:srgbClr val="C00000"/>
                </a:solidFill>
              </a:rPr>
              <a:t>laki-laki</a:t>
            </a:r>
            <a:r>
              <a:rPr lang="en-US" sz="2800" dirty="0">
                <a:solidFill>
                  <a:schemeClr val="tx1">
                    <a:lumMod val="95000"/>
                    <a:lumOff val="5000"/>
                  </a:schemeClr>
                </a:solidFill>
              </a:rPr>
              <a:t> </a:t>
            </a:r>
            <a:r>
              <a:rPr lang="en-US" sz="2800" dirty="0" err="1">
                <a:solidFill>
                  <a:schemeClr val="tx1">
                    <a:lumMod val="95000"/>
                    <a:lumOff val="5000"/>
                  </a:schemeClr>
                </a:solidFill>
              </a:rPr>
              <a:t>ada</a:t>
            </a:r>
            <a:r>
              <a:rPr lang="en-US" sz="2800" dirty="0">
                <a:solidFill>
                  <a:schemeClr val="tx1">
                    <a:lumMod val="95000"/>
                    <a:lumOff val="5000"/>
                  </a:schemeClr>
                </a:solidFill>
              </a:rPr>
              <a:t> </a:t>
            </a:r>
            <a:r>
              <a:rPr lang="en-US" sz="2800" dirty="0" err="1">
                <a:solidFill>
                  <a:schemeClr val="tx1">
                    <a:lumMod val="95000"/>
                    <a:lumOff val="5000"/>
                  </a:schemeClr>
                </a:solidFill>
              </a:rPr>
              <a:t>hak</a:t>
            </a:r>
            <a:r>
              <a:rPr lang="en-US" sz="2800" dirty="0">
                <a:solidFill>
                  <a:schemeClr val="tx1">
                    <a:lumMod val="95000"/>
                    <a:lumOff val="5000"/>
                  </a:schemeClr>
                </a:solidFill>
              </a:rPr>
              <a:t> </a:t>
            </a:r>
            <a:r>
              <a:rPr lang="en-US" sz="2800" dirty="0" err="1">
                <a:solidFill>
                  <a:schemeClr val="tx1">
                    <a:lumMod val="95000"/>
                    <a:lumOff val="5000"/>
                  </a:schemeClr>
                </a:solidFill>
              </a:rPr>
              <a:t>bagian</a:t>
            </a:r>
            <a:r>
              <a:rPr lang="en-US" sz="2800" dirty="0">
                <a:solidFill>
                  <a:schemeClr val="tx1">
                    <a:lumMod val="95000"/>
                    <a:lumOff val="5000"/>
                  </a:schemeClr>
                </a:solidFill>
              </a:rPr>
              <a:t> </a:t>
            </a:r>
            <a:r>
              <a:rPr lang="en-US" sz="2800" dirty="0" err="1">
                <a:solidFill>
                  <a:schemeClr val="tx1">
                    <a:lumMod val="95000"/>
                    <a:lumOff val="5000"/>
                  </a:schemeClr>
                </a:solidFill>
              </a:rPr>
              <a:t>dari</a:t>
            </a:r>
            <a:r>
              <a:rPr lang="en-US" sz="2800" dirty="0">
                <a:solidFill>
                  <a:schemeClr val="tx1">
                    <a:lumMod val="95000"/>
                    <a:lumOff val="5000"/>
                  </a:schemeClr>
                </a:solidFill>
              </a:rPr>
              <a:t> </a:t>
            </a:r>
            <a:r>
              <a:rPr lang="en-US" sz="2800" dirty="0" err="1">
                <a:solidFill>
                  <a:schemeClr val="tx1">
                    <a:lumMod val="95000"/>
                    <a:lumOff val="5000"/>
                  </a:schemeClr>
                </a:solidFill>
              </a:rPr>
              <a:t>harta</a:t>
            </a:r>
            <a:r>
              <a:rPr lang="en-US" sz="2800" dirty="0">
                <a:solidFill>
                  <a:schemeClr val="tx1">
                    <a:lumMod val="95000"/>
                    <a:lumOff val="5000"/>
                  </a:schemeClr>
                </a:solidFill>
              </a:rPr>
              <a:t> </a:t>
            </a:r>
            <a:r>
              <a:rPr lang="en-US" sz="2800" dirty="0" err="1">
                <a:solidFill>
                  <a:schemeClr val="tx1">
                    <a:lumMod val="95000"/>
                    <a:lumOff val="5000"/>
                  </a:schemeClr>
                </a:solidFill>
              </a:rPr>
              <a:t>peninggalan</a:t>
            </a:r>
            <a:r>
              <a:rPr lang="en-US" sz="2800" dirty="0">
                <a:solidFill>
                  <a:schemeClr val="tx1">
                    <a:lumMod val="95000"/>
                    <a:lumOff val="5000"/>
                  </a:schemeClr>
                </a:solidFill>
              </a:rPr>
              <a:t> </a:t>
            </a:r>
            <a:r>
              <a:rPr lang="en-US" sz="2800" dirty="0" err="1">
                <a:solidFill>
                  <a:schemeClr val="tx1">
                    <a:lumMod val="95000"/>
                    <a:lumOff val="5000"/>
                  </a:schemeClr>
                </a:solidFill>
              </a:rPr>
              <a:t>kedua</a:t>
            </a:r>
            <a:r>
              <a:rPr lang="en-US" sz="2800" dirty="0">
                <a:solidFill>
                  <a:schemeClr val="tx1">
                    <a:lumMod val="95000"/>
                    <a:lumOff val="5000"/>
                  </a:schemeClr>
                </a:solidFill>
              </a:rPr>
              <a:t> orang </a:t>
            </a:r>
            <a:r>
              <a:rPr lang="en-US" sz="2800" dirty="0" err="1">
                <a:solidFill>
                  <a:schemeClr val="tx1">
                    <a:lumMod val="95000"/>
                    <a:lumOff val="5000"/>
                  </a:schemeClr>
                </a:solidFill>
              </a:rPr>
              <a:t>tua</a:t>
            </a:r>
            <a:r>
              <a:rPr lang="en-US" sz="2800" dirty="0">
                <a:solidFill>
                  <a:schemeClr val="tx1">
                    <a:lumMod val="95000"/>
                    <a:lumOff val="5000"/>
                  </a:schemeClr>
                </a:solidFill>
              </a:rPr>
              <a:t> </a:t>
            </a:r>
            <a:r>
              <a:rPr lang="en-US" sz="2800" dirty="0" err="1">
                <a:solidFill>
                  <a:schemeClr val="tx1">
                    <a:lumMod val="95000"/>
                    <a:lumOff val="5000"/>
                  </a:schemeClr>
                </a:solidFill>
              </a:rPr>
              <a:t>dan</a:t>
            </a:r>
            <a:r>
              <a:rPr lang="en-US" sz="2800" dirty="0">
                <a:solidFill>
                  <a:schemeClr val="tx1">
                    <a:lumMod val="95000"/>
                    <a:lumOff val="5000"/>
                  </a:schemeClr>
                </a:solidFill>
              </a:rPr>
              <a:t> </a:t>
            </a:r>
            <a:r>
              <a:rPr lang="en-US" sz="2800" dirty="0" err="1">
                <a:solidFill>
                  <a:schemeClr val="tx1">
                    <a:lumMod val="95000"/>
                    <a:lumOff val="5000"/>
                  </a:schemeClr>
                </a:solidFill>
              </a:rPr>
              <a:t>kerabatnya</a:t>
            </a:r>
            <a:r>
              <a:rPr lang="en-US" sz="2800" dirty="0">
                <a:solidFill>
                  <a:schemeClr val="tx1">
                    <a:lumMod val="95000"/>
                    <a:lumOff val="5000"/>
                  </a:schemeClr>
                </a:solidFill>
              </a:rPr>
              <a:t>, </a:t>
            </a:r>
            <a:r>
              <a:rPr lang="en-US" sz="2800" dirty="0" err="1">
                <a:solidFill>
                  <a:schemeClr val="tx1">
                    <a:lumMod val="95000"/>
                    <a:lumOff val="5000"/>
                  </a:schemeClr>
                </a:solidFill>
              </a:rPr>
              <a:t>dan</a:t>
            </a:r>
            <a:r>
              <a:rPr lang="en-US" sz="2800" dirty="0">
                <a:solidFill>
                  <a:schemeClr val="tx1">
                    <a:lumMod val="95000"/>
                    <a:lumOff val="5000"/>
                  </a:schemeClr>
                </a:solidFill>
              </a:rPr>
              <a:t> </a:t>
            </a:r>
            <a:r>
              <a:rPr lang="en-US" sz="2800" dirty="0" err="1">
                <a:solidFill>
                  <a:schemeClr val="tx1">
                    <a:lumMod val="95000"/>
                    <a:lumOff val="5000"/>
                  </a:schemeClr>
                </a:solidFill>
              </a:rPr>
              <a:t>bagi</a:t>
            </a:r>
            <a:r>
              <a:rPr lang="en-US" sz="2800" dirty="0">
                <a:solidFill>
                  <a:schemeClr val="tx1">
                    <a:lumMod val="95000"/>
                    <a:lumOff val="5000"/>
                  </a:schemeClr>
                </a:solidFill>
              </a:rPr>
              <a:t> </a:t>
            </a:r>
            <a:r>
              <a:rPr lang="en-US" sz="2800" dirty="0" err="1">
                <a:solidFill>
                  <a:srgbClr val="C00000"/>
                </a:solidFill>
              </a:rPr>
              <a:t>perempuan</a:t>
            </a:r>
            <a:r>
              <a:rPr lang="en-US" sz="2800" dirty="0">
                <a:solidFill>
                  <a:srgbClr val="C00000"/>
                </a:solidFill>
              </a:rPr>
              <a:t> </a:t>
            </a:r>
            <a:r>
              <a:rPr lang="en-US" sz="2800" dirty="0" err="1">
                <a:solidFill>
                  <a:schemeClr val="tx1">
                    <a:lumMod val="95000"/>
                    <a:lumOff val="5000"/>
                  </a:schemeClr>
                </a:solidFill>
              </a:rPr>
              <a:t>ada</a:t>
            </a:r>
            <a:r>
              <a:rPr lang="en-US" sz="2800" dirty="0">
                <a:solidFill>
                  <a:schemeClr val="tx1">
                    <a:lumMod val="95000"/>
                    <a:lumOff val="5000"/>
                  </a:schemeClr>
                </a:solidFill>
              </a:rPr>
              <a:t> </a:t>
            </a:r>
            <a:r>
              <a:rPr lang="en-US" sz="2800" dirty="0" err="1">
                <a:solidFill>
                  <a:schemeClr val="tx1">
                    <a:lumMod val="95000"/>
                    <a:lumOff val="5000"/>
                  </a:schemeClr>
                </a:solidFill>
              </a:rPr>
              <a:t>hak</a:t>
            </a:r>
            <a:r>
              <a:rPr lang="en-US" sz="2800" dirty="0">
                <a:solidFill>
                  <a:schemeClr val="tx1">
                    <a:lumMod val="95000"/>
                    <a:lumOff val="5000"/>
                  </a:schemeClr>
                </a:solidFill>
              </a:rPr>
              <a:t> </a:t>
            </a:r>
            <a:r>
              <a:rPr lang="en-US" sz="2800" dirty="0" err="1">
                <a:solidFill>
                  <a:schemeClr val="tx1">
                    <a:lumMod val="95000"/>
                    <a:lumOff val="5000"/>
                  </a:schemeClr>
                </a:solidFill>
              </a:rPr>
              <a:t>bagian</a:t>
            </a:r>
            <a:r>
              <a:rPr lang="en-US" sz="2800" dirty="0">
                <a:solidFill>
                  <a:schemeClr val="tx1">
                    <a:lumMod val="95000"/>
                    <a:lumOff val="5000"/>
                  </a:schemeClr>
                </a:solidFill>
              </a:rPr>
              <a:t> (pula) </a:t>
            </a:r>
            <a:r>
              <a:rPr lang="en-US" sz="2800" dirty="0" err="1">
                <a:solidFill>
                  <a:schemeClr val="tx1">
                    <a:lumMod val="95000"/>
                    <a:lumOff val="5000"/>
                  </a:schemeClr>
                </a:solidFill>
              </a:rPr>
              <a:t>dari</a:t>
            </a:r>
            <a:r>
              <a:rPr lang="en-US" sz="2800" dirty="0">
                <a:solidFill>
                  <a:schemeClr val="tx1">
                    <a:lumMod val="95000"/>
                    <a:lumOff val="5000"/>
                  </a:schemeClr>
                </a:solidFill>
              </a:rPr>
              <a:t> </a:t>
            </a:r>
            <a:r>
              <a:rPr lang="en-US" sz="2800" dirty="0" err="1">
                <a:solidFill>
                  <a:schemeClr val="tx1">
                    <a:lumMod val="95000"/>
                    <a:lumOff val="5000"/>
                  </a:schemeClr>
                </a:solidFill>
              </a:rPr>
              <a:t>harta</a:t>
            </a:r>
            <a:r>
              <a:rPr lang="en-US" sz="2800" dirty="0">
                <a:solidFill>
                  <a:schemeClr val="tx1">
                    <a:lumMod val="95000"/>
                    <a:lumOff val="5000"/>
                  </a:schemeClr>
                </a:solidFill>
              </a:rPr>
              <a:t> </a:t>
            </a:r>
            <a:r>
              <a:rPr lang="en-US" sz="2800" dirty="0" err="1">
                <a:solidFill>
                  <a:schemeClr val="tx1">
                    <a:lumMod val="95000"/>
                    <a:lumOff val="5000"/>
                  </a:schemeClr>
                </a:solidFill>
              </a:rPr>
              <a:t>peninggalan</a:t>
            </a:r>
            <a:r>
              <a:rPr lang="en-US" sz="2800" dirty="0">
                <a:solidFill>
                  <a:schemeClr val="tx1">
                    <a:lumMod val="95000"/>
                    <a:lumOff val="5000"/>
                  </a:schemeClr>
                </a:solidFill>
              </a:rPr>
              <a:t> </a:t>
            </a:r>
            <a:r>
              <a:rPr lang="en-US" sz="2800" dirty="0" err="1">
                <a:solidFill>
                  <a:schemeClr val="tx1">
                    <a:lumMod val="95000"/>
                    <a:lumOff val="5000"/>
                  </a:schemeClr>
                </a:solidFill>
              </a:rPr>
              <a:t>kedua</a:t>
            </a:r>
            <a:r>
              <a:rPr lang="en-US" sz="2800" dirty="0">
                <a:solidFill>
                  <a:schemeClr val="tx1">
                    <a:lumMod val="95000"/>
                    <a:lumOff val="5000"/>
                  </a:schemeClr>
                </a:solidFill>
              </a:rPr>
              <a:t> orang </a:t>
            </a:r>
            <a:r>
              <a:rPr lang="en-US" sz="2800" dirty="0" err="1">
                <a:solidFill>
                  <a:schemeClr val="tx1">
                    <a:lumMod val="95000"/>
                    <a:lumOff val="5000"/>
                  </a:schemeClr>
                </a:solidFill>
              </a:rPr>
              <a:t>tua</a:t>
            </a:r>
            <a:r>
              <a:rPr lang="en-US" sz="2800" dirty="0">
                <a:solidFill>
                  <a:schemeClr val="tx1">
                    <a:lumMod val="95000"/>
                    <a:lumOff val="5000"/>
                  </a:schemeClr>
                </a:solidFill>
              </a:rPr>
              <a:t> </a:t>
            </a:r>
            <a:r>
              <a:rPr lang="en-US" sz="2800" dirty="0" err="1">
                <a:solidFill>
                  <a:schemeClr val="tx1">
                    <a:lumMod val="95000"/>
                    <a:lumOff val="5000"/>
                  </a:schemeClr>
                </a:solidFill>
              </a:rPr>
              <a:t>dan</a:t>
            </a:r>
            <a:r>
              <a:rPr lang="en-US" sz="2800" dirty="0">
                <a:solidFill>
                  <a:schemeClr val="tx1">
                    <a:lumMod val="95000"/>
                    <a:lumOff val="5000"/>
                  </a:schemeClr>
                </a:solidFill>
              </a:rPr>
              <a:t> </a:t>
            </a:r>
            <a:r>
              <a:rPr lang="en-US" sz="2800" dirty="0" err="1">
                <a:solidFill>
                  <a:schemeClr val="tx1">
                    <a:lumMod val="95000"/>
                    <a:lumOff val="5000"/>
                  </a:schemeClr>
                </a:solidFill>
              </a:rPr>
              <a:t>kerabatnya</a:t>
            </a:r>
            <a:r>
              <a:rPr lang="en-US" sz="2800" dirty="0">
                <a:solidFill>
                  <a:schemeClr val="tx1">
                    <a:lumMod val="95000"/>
                    <a:lumOff val="5000"/>
                  </a:schemeClr>
                </a:solidFill>
              </a:rPr>
              <a:t>, </a:t>
            </a:r>
            <a:r>
              <a:rPr lang="en-US" sz="2800" dirty="0" err="1">
                <a:solidFill>
                  <a:schemeClr val="tx1">
                    <a:lumMod val="95000"/>
                    <a:lumOff val="5000"/>
                  </a:schemeClr>
                </a:solidFill>
              </a:rPr>
              <a:t>baik</a:t>
            </a:r>
            <a:r>
              <a:rPr lang="en-US" sz="2800" dirty="0">
                <a:solidFill>
                  <a:schemeClr val="tx1">
                    <a:lumMod val="95000"/>
                    <a:lumOff val="5000"/>
                  </a:schemeClr>
                </a:solidFill>
              </a:rPr>
              <a:t> </a:t>
            </a:r>
            <a:r>
              <a:rPr lang="en-US" sz="2800" dirty="0" err="1">
                <a:solidFill>
                  <a:schemeClr val="tx1">
                    <a:lumMod val="95000"/>
                    <a:lumOff val="5000"/>
                  </a:schemeClr>
                </a:solidFill>
              </a:rPr>
              <a:t>sedikit</a:t>
            </a:r>
            <a:r>
              <a:rPr lang="en-US" sz="2800" dirty="0">
                <a:solidFill>
                  <a:schemeClr val="tx1">
                    <a:lumMod val="95000"/>
                    <a:lumOff val="5000"/>
                  </a:schemeClr>
                </a:solidFill>
              </a:rPr>
              <a:t> </a:t>
            </a:r>
            <a:r>
              <a:rPr lang="en-US" sz="2800" dirty="0" err="1">
                <a:solidFill>
                  <a:schemeClr val="tx1">
                    <a:lumMod val="95000"/>
                    <a:lumOff val="5000"/>
                  </a:schemeClr>
                </a:solidFill>
              </a:rPr>
              <a:t>atau</a:t>
            </a:r>
            <a:r>
              <a:rPr lang="en-US" sz="2800" dirty="0">
                <a:solidFill>
                  <a:schemeClr val="tx1">
                    <a:lumMod val="95000"/>
                    <a:lumOff val="5000"/>
                  </a:schemeClr>
                </a:solidFill>
              </a:rPr>
              <a:t> </a:t>
            </a:r>
            <a:r>
              <a:rPr lang="en-US" sz="2800" dirty="0" err="1">
                <a:solidFill>
                  <a:schemeClr val="tx1">
                    <a:lumMod val="95000"/>
                    <a:lumOff val="5000"/>
                  </a:schemeClr>
                </a:solidFill>
              </a:rPr>
              <a:t>banyak</a:t>
            </a:r>
            <a:r>
              <a:rPr lang="en-US" sz="2800" dirty="0">
                <a:solidFill>
                  <a:schemeClr val="tx1">
                    <a:lumMod val="95000"/>
                    <a:lumOff val="5000"/>
                  </a:schemeClr>
                </a:solidFill>
              </a:rPr>
              <a:t> </a:t>
            </a:r>
            <a:r>
              <a:rPr lang="en-US" sz="2800" dirty="0" err="1">
                <a:solidFill>
                  <a:schemeClr val="tx1">
                    <a:lumMod val="95000"/>
                    <a:lumOff val="5000"/>
                  </a:schemeClr>
                </a:solidFill>
              </a:rPr>
              <a:t>menurut</a:t>
            </a:r>
            <a:r>
              <a:rPr lang="en-US" sz="2800" dirty="0">
                <a:solidFill>
                  <a:schemeClr val="tx1">
                    <a:lumMod val="95000"/>
                    <a:lumOff val="5000"/>
                  </a:schemeClr>
                </a:solidFill>
              </a:rPr>
              <a:t> </a:t>
            </a:r>
            <a:r>
              <a:rPr lang="en-US" sz="2800" dirty="0" err="1">
                <a:solidFill>
                  <a:schemeClr val="tx1">
                    <a:lumMod val="95000"/>
                    <a:lumOff val="5000"/>
                  </a:schemeClr>
                </a:solidFill>
              </a:rPr>
              <a:t>bagian</a:t>
            </a:r>
            <a:r>
              <a:rPr lang="en-US" sz="2800" dirty="0">
                <a:solidFill>
                  <a:schemeClr val="tx1">
                    <a:lumMod val="95000"/>
                    <a:lumOff val="5000"/>
                  </a:schemeClr>
                </a:solidFill>
              </a:rPr>
              <a:t> yang </a:t>
            </a:r>
            <a:r>
              <a:rPr lang="en-US" sz="2800" dirty="0" err="1">
                <a:solidFill>
                  <a:schemeClr val="tx1">
                    <a:lumMod val="95000"/>
                    <a:lumOff val="5000"/>
                  </a:schemeClr>
                </a:solidFill>
              </a:rPr>
              <a:t>telah</a:t>
            </a:r>
            <a:r>
              <a:rPr lang="en-US" sz="2800" dirty="0">
                <a:solidFill>
                  <a:schemeClr val="tx1">
                    <a:lumMod val="95000"/>
                    <a:lumOff val="5000"/>
                  </a:schemeClr>
                </a:solidFill>
              </a:rPr>
              <a:t> </a:t>
            </a:r>
            <a:r>
              <a:rPr lang="en-US" sz="2800" dirty="0" err="1">
                <a:solidFill>
                  <a:schemeClr val="tx1">
                    <a:lumMod val="95000"/>
                    <a:lumOff val="5000"/>
                  </a:schemeClr>
                </a:solidFill>
              </a:rPr>
              <a:t>ditetapkan</a:t>
            </a:r>
            <a:r>
              <a:rPr lang="en-US" sz="2800" dirty="0">
                <a:solidFill>
                  <a:schemeClr val="tx1">
                    <a:lumMod val="95000"/>
                    <a:lumOff val="5000"/>
                  </a:schemeClr>
                </a:solidFill>
              </a:rPr>
              <a:t>.</a:t>
            </a:r>
          </a:p>
        </p:txBody>
      </p:sp>
      <p:sp>
        <p:nvSpPr>
          <p:cNvPr id="6" name="TextBox 5"/>
          <p:cNvSpPr txBox="1"/>
          <p:nvPr/>
        </p:nvSpPr>
        <p:spPr>
          <a:xfrm>
            <a:off x="2389780" y="533400"/>
            <a:ext cx="5614670" cy="645160"/>
          </a:xfrm>
          <a:prstGeom prst="rect">
            <a:avLst/>
          </a:prstGeom>
          <a:noFill/>
        </p:spPr>
        <p:txBody>
          <a:bodyPr wrap="none" rtlCol="0">
            <a:spAutoFit/>
          </a:bodyPr>
          <a:lstStyle/>
          <a:p>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Al Qur’an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Surat</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Nisa</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 7</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circle(in)">
                                      <p:cBhvr>
                                        <p:cTn id="18"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89780" y="533400"/>
            <a:ext cx="5641975" cy="645160"/>
          </a:xfrm>
          <a:prstGeom prst="rect">
            <a:avLst/>
          </a:prstGeom>
          <a:noFill/>
        </p:spPr>
        <p:txBody>
          <a:bodyPr wrap="none" rtlCol="0">
            <a:spAutoFit/>
          </a:bodyPr>
          <a:lstStyle/>
          <a:p>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Al Qur’an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Surat</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Nisa</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 8</a:t>
            </a:r>
          </a:p>
        </p:txBody>
      </p:sp>
      <p:sp>
        <p:nvSpPr>
          <p:cNvPr id="5" name="TextBox 4"/>
          <p:cNvSpPr txBox="1"/>
          <p:nvPr/>
        </p:nvSpPr>
        <p:spPr>
          <a:xfrm>
            <a:off x="838200" y="1447800"/>
            <a:ext cx="7543800" cy="1753235"/>
          </a:xfrm>
          <a:prstGeom prst="rect">
            <a:avLst/>
          </a:prstGeom>
          <a:noFill/>
        </p:spPr>
        <p:txBody>
          <a:bodyPr wrap="square" rtlCol="0">
            <a:spAutoFit/>
          </a:bodyPr>
          <a:lstStyle/>
          <a:p>
            <a:pPr algn="ctr">
              <a:lnSpc>
                <a:spcPct val="150000"/>
              </a:lnSpc>
            </a:pPr>
            <a:r>
              <a:rPr lang="ar-SA" sz="3600" dirty="0"/>
              <a:t>وَاِذَا حَضَرَ الْقِسْمَةَ اُولُوا الْقُرْبٰى وَالْيَتٰمٰى وَالْمَسٰكِيْنُ فَارْزُقُوْهُمْ مِّنْهُ وَقُوْلُوْا لَهُمْ قَوْلًا مَّعْرُوْفًا</a:t>
            </a:r>
          </a:p>
        </p:txBody>
      </p:sp>
      <p:sp>
        <p:nvSpPr>
          <p:cNvPr id="6" name="TextBox 5"/>
          <p:cNvSpPr txBox="1"/>
          <p:nvPr/>
        </p:nvSpPr>
        <p:spPr>
          <a:xfrm>
            <a:off x="676275" y="3276600"/>
            <a:ext cx="7705725" cy="2245360"/>
          </a:xfrm>
          <a:prstGeom prst="rect">
            <a:avLst/>
          </a:prstGeom>
          <a:noFill/>
        </p:spPr>
        <p:txBody>
          <a:bodyPr wrap="square" rtlCol="0">
            <a:spAutoFit/>
          </a:bodyPr>
          <a:lstStyle/>
          <a:p>
            <a:pPr algn="ctr"/>
            <a:r>
              <a:rPr lang="en-US" sz="2800" dirty="0"/>
              <a:t>Dan </a:t>
            </a:r>
            <a:r>
              <a:rPr lang="en-US" sz="2800" dirty="0" err="1"/>
              <a:t>apabila</a:t>
            </a:r>
            <a:r>
              <a:rPr lang="en-US" sz="2800" dirty="0"/>
              <a:t> </a:t>
            </a:r>
            <a:r>
              <a:rPr lang="en-US" sz="2800" dirty="0" err="1"/>
              <a:t>sewaktu</a:t>
            </a:r>
            <a:r>
              <a:rPr lang="en-US" sz="2800" dirty="0"/>
              <a:t> </a:t>
            </a:r>
            <a:r>
              <a:rPr lang="en-US" sz="2800" dirty="0" err="1"/>
              <a:t>pembagian</a:t>
            </a:r>
            <a:r>
              <a:rPr lang="en-US" sz="2800" dirty="0"/>
              <a:t> </a:t>
            </a:r>
            <a:r>
              <a:rPr lang="en-US" sz="2800" dirty="0" err="1"/>
              <a:t>itu</a:t>
            </a:r>
            <a:r>
              <a:rPr lang="en-US" sz="2800" dirty="0"/>
              <a:t> </a:t>
            </a:r>
            <a:r>
              <a:rPr lang="en-US" sz="2800" dirty="0" err="1"/>
              <a:t>hadir</a:t>
            </a:r>
            <a:r>
              <a:rPr lang="en-US" sz="2800" dirty="0"/>
              <a:t> </a:t>
            </a:r>
            <a:r>
              <a:rPr lang="en-US" sz="2800" dirty="0" err="1"/>
              <a:t>beberapa</a:t>
            </a:r>
            <a:r>
              <a:rPr lang="en-US" sz="2800" dirty="0"/>
              <a:t> </a:t>
            </a:r>
            <a:r>
              <a:rPr lang="en-US" sz="2800" dirty="0" err="1">
                <a:solidFill>
                  <a:srgbClr val="C00000"/>
                </a:solidFill>
              </a:rPr>
              <a:t>kerabat</a:t>
            </a:r>
            <a:r>
              <a:rPr lang="en-US" sz="2800" dirty="0">
                <a:solidFill>
                  <a:srgbClr val="C00000"/>
                </a:solidFill>
              </a:rPr>
              <a:t>, </a:t>
            </a:r>
            <a:r>
              <a:rPr lang="en-US" sz="2800" dirty="0" err="1">
                <a:solidFill>
                  <a:srgbClr val="C00000"/>
                </a:solidFill>
              </a:rPr>
              <a:t>anak-anak</a:t>
            </a:r>
            <a:r>
              <a:rPr lang="en-US" sz="2800" dirty="0">
                <a:solidFill>
                  <a:srgbClr val="C00000"/>
                </a:solidFill>
              </a:rPr>
              <a:t> </a:t>
            </a:r>
            <a:r>
              <a:rPr lang="en-US" sz="2800" dirty="0" err="1">
                <a:solidFill>
                  <a:srgbClr val="C00000"/>
                </a:solidFill>
              </a:rPr>
              <a:t>yatim</a:t>
            </a:r>
            <a:r>
              <a:rPr lang="en-US" sz="2800" dirty="0">
                <a:solidFill>
                  <a:srgbClr val="C00000"/>
                </a:solidFill>
              </a:rPr>
              <a:t> </a:t>
            </a:r>
            <a:r>
              <a:rPr lang="en-US" sz="2800" dirty="0" err="1">
                <a:solidFill>
                  <a:srgbClr val="C00000"/>
                </a:solidFill>
              </a:rPr>
              <a:t>dan</a:t>
            </a:r>
            <a:r>
              <a:rPr lang="en-US" sz="2800" dirty="0">
                <a:solidFill>
                  <a:srgbClr val="C00000"/>
                </a:solidFill>
              </a:rPr>
              <a:t> orang-orang </a:t>
            </a:r>
            <a:r>
              <a:rPr lang="en-US" sz="2800" dirty="0" err="1">
                <a:solidFill>
                  <a:srgbClr val="C00000"/>
                </a:solidFill>
              </a:rPr>
              <a:t>miskin</a:t>
            </a:r>
            <a:r>
              <a:rPr lang="en-US" sz="2800" dirty="0">
                <a:solidFill>
                  <a:srgbClr val="C00000"/>
                </a:solidFill>
              </a:rPr>
              <a:t>, </a:t>
            </a:r>
            <a:r>
              <a:rPr lang="en-US" sz="2800" dirty="0" err="1"/>
              <a:t>maka</a:t>
            </a:r>
            <a:r>
              <a:rPr lang="en-US" sz="2800" dirty="0"/>
              <a:t> </a:t>
            </a:r>
            <a:r>
              <a:rPr lang="en-US" sz="2800" dirty="0" err="1"/>
              <a:t>berilah</a:t>
            </a:r>
            <a:r>
              <a:rPr lang="en-US" sz="2800" dirty="0"/>
              <a:t> </a:t>
            </a:r>
            <a:r>
              <a:rPr lang="en-US" sz="2800" dirty="0" err="1"/>
              <a:t>mereka</a:t>
            </a:r>
            <a:r>
              <a:rPr lang="en-US" sz="2800" dirty="0"/>
              <a:t> </a:t>
            </a:r>
            <a:r>
              <a:rPr lang="en-US" sz="2800" dirty="0" err="1"/>
              <a:t>dari</a:t>
            </a:r>
            <a:r>
              <a:rPr lang="en-US" sz="2800" dirty="0"/>
              <a:t> </a:t>
            </a:r>
            <a:r>
              <a:rPr lang="en-US" sz="2800" dirty="0" err="1"/>
              <a:t>harta</a:t>
            </a:r>
            <a:r>
              <a:rPr lang="en-US" sz="2800" dirty="0"/>
              <a:t> </a:t>
            </a:r>
            <a:r>
              <a:rPr lang="en-US" sz="2800" dirty="0" err="1"/>
              <a:t>itu</a:t>
            </a:r>
            <a:r>
              <a:rPr lang="en-US" sz="2800" dirty="0"/>
              <a:t> (</a:t>
            </a:r>
            <a:r>
              <a:rPr lang="en-US" sz="2800" dirty="0" err="1"/>
              <a:t>sekedarnya</a:t>
            </a:r>
            <a:r>
              <a:rPr lang="en-US" sz="2800" dirty="0"/>
              <a:t>) </a:t>
            </a:r>
            <a:r>
              <a:rPr lang="en-US" sz="2800" dirty="0" err="1"/>
              <a:t>dan</a:t>
            </a:r>
            <a:r>
              <a:rPr lang="en-US" sz="2800" dirty="0"/>
              <a:t> </a:t>
            </a:r>
            <a:r>
              <a:rPr lang="en-US" sz="2800" dirty="0" err="1"/>
              <a:t>ucapkanlah</a:t>
            </a:r>
            <a:r>
              <a:rPr lang="en-US" sz="2800" dirty="0"/>
              <a:t> </a:t>
            </a:r>
            <a:r>
              <a:rPr lang="en-US" sz="2800" dirty="0" err="1"/>
              <a:t>kepada</a:t>
            </a:r>
            <a:r>
              <a:rPr lang="en-US" sz="2800" dirty="0"/>
              <a:t> </a:t>
            </a:r>
            <a:r>
              <a:rPr lang="en-US" sz="2800" dirty="0" err="1"/>
              <a:t>mereka</a:t>
            </a:r>
            <a:r>
              <a:rPr lang="en-US" sz="2800" dirty="0"/>
              <a:t> </a:t>
            </a:r>
            <a:r>
              <a:rPr lang="en-US" sz="2800" dirty="0" err="1"/>
              <a:t>perkataan</a:t>
            </a:r>
            <a:r>
              <a:rPr lang="en-US" sz="2800" dirty="0"/>
              <a:t> yang </a:t>
            </a:r>
            <a:r>
              <a:rPr lang="en-US" sz="2800" dirty="0" err="1"/>
              <a:t>baik</a:t>
            </a:r>
            <a:r>
              <a:rPr lang="en-US" sz="2800" dirty="0"/>
              <a:t>.</a:t>
            </a:r>
            <a:endParaRPr lang="en-US" sz="2800" dirty="0">
              <a:solidFill>
                <a:schemeClr val="tx1">
                  <a:lumMod val="95000"/>
                  <a:lumOff val="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ircle(in)">
                                      <p:cBhvr>
                                        <p:cTn id="1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89780" y="533400"/>
            <a:ext cx="5619115" cy="645160"/>
          </a:xfrm>
          <a:prstGeom prst="rect">
            <a:avLst/>
          </a:prstGeom>
          <a:noFill/>
        </p:spPr>
        <p:txBody>
          <a:bodyPr wrap="none" rtlCol="0">
            <a:spAutoFit/>
          </a:bodyPr>
          <a:lstStyle/>
          <a:p>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Al Qur’an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Surat</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Nisa</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 9</a:t>
            </a:r>
          </a:p>
        </p:txBody>
      </p:sp>
      <p:sp>
        <p:nvSpPr>
          <p:cNvPr id="5" name="TextBox 4"/>
          <p:cNvSpPr txBox="1"/>
          <p:nvPr/>
        </p:nvSpPr>
        <p:spPr>
          <a:xfrm>
            <a:off x="838200" y="1443355"/>
            <a:ext cx="7543800" cy="1753235"/>
          </a:xfrm>
          <a:prstGeom prst="rect">
            <a:avLst/>
          </a:prstGeom>
          <a:noFill/>
        </p:spPr>
        <p:txBody>
          <a:bodyPr wrap="square" rtlCol="0">
            <a:spAutoFit/>
          </a:bodyPr>
          <a:lstStyle/>
          <a:p>
            <a:pPr algn="ctr">
              <a:lnSpc>
                <a:spcPct val="150000"/>
              </a:lnSpc>
            </a:pPr>
            <a:r>
              <a:rPr lang="ar-SA" sz="3600" dirty="0"/>
              <a:t>وَلْيَخْشَ الَّذِيْنَ لَوْ تَرَكُوْا مِنْ خَلْفِهِمْ ذُرِّيَّةً ضِعٰفًا خَافُوْا عَلَيْهِمْۖ فَلْيَتَّقُوا اللّٰهَ وَلْيَقُوْلُوْا قَوْلًا سَدِيْدًا</a:t>
            </a:r>
          </a:p>
        </p:txBody>
      </p:sp>
      <p:sp>
        <p:nvSpPr>
          <p:cNvPr id="6" name="TextBox 5"/>
          <p:cNvSpPr txBox="1"/>
          <p:nvPr/>
        </p:nvSpPr>
        <p:spPr>
          <a:xfrm>
            <a:off x="641985" y="3276600"/>
            <a:ext cx="7913370" cy="3107690"/>
          </a:xfrm>
          <a:prstGeom prst="rect">
            <a:avLst/>
          </a:prstGeom>
          <a:noFill/>
        </p:spPr>
        <p:txBody>
          <a:bodyPr wrap="square" rtlCol="0">
            <a:spAutoFit/>
          </a:bodyPr>
          <a:lstStyle/>
          <a:p>
            <a:pPr algn="ctr"/>
            <a:r>
              <a:rPr lang="en-US" sz="2800" dirty="0"/>
              <a:t>Dan </a:t>
            </a:r>
            <a:r>
              <a:rPr lang="en-US" sz="2800" dirty="0" err="1"/>
              <a:t>hendaklah</a:t>
            </a:r>
            <a:r>
              <a:rPr lang="en-US" sz="2800" dirty="0"/>
              <a:t> </a:t>
            </a:r>
            <a:r>
              <a:rPr lang="en-US" sz="2800" dirty="0" err="1"/>
              <a:t>takut</a:t>
            </a:r>
            <a:r>
              <a:rPr lang="en-US" sz="2800" dirty="0"/>
              <a:t> (</a:t>
            </a:r>
            <a:r>
              <a:rPr lang="en-US" sz="2800" dirty="0" err="1"/>
              <a:t>kepada</a:t>
            </a:r>
            <a:r>
              <a:rPr lang="en-US" sz="2800" dirty="0"/>
              <a:t> Allah) orang-orang yang </a:t>
            </a:r>
            <a:r>
              <a:rPr lang="en-US" sz="2800" dirty="0" err="1"/>
              <a:t>sekiranya</a:t>
            </a:r>
            <a:r>
              <a:rPr lang="en-US" sz="2800" dirty="0"/>
              <a:t> </a:t>
            </a:r>
            <a:r>
              <a:rPr lang="en-US" sz="2800" dirty="0" err="1"/>
              <a:t>mereka</a:t>
            </a:r>
            <a:r>
              <a:rPr lang="en-US" sz="2800" dirty="0"/>
              <a:t> </a:t>
            </a:r>
            <a:r>
              <a:rPr lang="en-US" sz="2800" dirty="0" err="1"/>
              <a:t>meninggalkan</a:t>
            </a:r>
            <a:r>
              <a:rPr lang="en-US" sz="2800" dirty="0"/>
              <a:t> </a:t>
            </a:r>
            <a:r>
              <a:rPr lang="en-US" sz="2800" dirty="0" err="1">
                <a:solidFill>
                  <a:srgbClr val="C00000"/>
                </a:solidFill>
              </a:rPr>
              <a:t>keturunan</a:t>
            </a:r>
            <a:r>
              <a:rPr lang="en-US" sz="2800" dirty="0">
                <a:solidFill>
                  <a:srgbClr val="C00000"/>
                </a:solidFill>
              </a:rPr>
              <a:t> yang </a:t>
            </a:r>
            <a:r>
              <a:rPr lang="en-US" sz="2800" dirty="0" err="1">
                <a:solidFill>
                  <a:srgbClr val="C00000"/>
                </a:solidFill>
              </a:rPr>
              <a:t>lemah</a:t>
            </a:r>
            <a:r>
              <a:rPr lang="en-US" sz="2800" dirty="0">
                <a:solidFill>
                  <a:srgbClr val="C00000"/>
                </a:solidFill>
              </a:rPr>
              <a:t> di </a:t>
            </a:r>
            <a:r>
              <a:rPr lang="en-US" sz="2800" dirty="0" err="1">
                <a:solidFill>
                  <a:srgbClr val="C00000"/>
                </a:solidFill>
              </a:rPr>
              <a:t>belakang</a:t>
            </a:r>
            <a:r>
              <a:rPr lang="en-US" sz="2800" dirty="0">
                <a:solidFill>
                  <a:srgbClr val="C00000"/>
                </a:solidFill>
              </a:rPr>
              <a:t> </a:t>
            </a:r>
            <a:r>
              <a:rPr lang="en-US" sz="2800" dirty="0" err="1"/>
              <a:t>mereka</a:t>
            </a:r>
            <a:r>
              <a:rPr lang="en-US" sz="2800" dirty="0"/>
              <a:t> yang </a:t>
            </a:r>
            <a:r>
              <a:rPr lang="en-US" sz="2800" dirty="0" err="1"/>
              <a:t>mereka</a:t>
            </a:r>
            <a:r>
              <a:rPr lang="en-US" sz="2800" dirty="0"/>
              <a:t> </a:t>
            </a:r>
            <a:r>
              <a:rPr lang="en-US" sz="2800" dirty="0" err="1"/>
              <a:t>khawatir</a:t>
            </a:r>
            <a:r>
              <a:rPr lang="en-US" sz="2800" dirty="0"/>
              <a:t> </a:t>
            </a:r>
            <a:r>
              <a:rPr lang="en-US" sz="2800" dirty="0" err="1"/>
              <a:t>terhadap</a:t>
            </a:r>
            <a:r>
              <a:rPr lang="en-US" sz="2800" dirty="0"/>
              <a:t> (</a:t>
            </a:r>
            <a:r>
              <a:rPr lang="en-US" sz="2800" dirty="0" err="1"/>
              <a:t>kesejahteraan</a:t>
            </a:r>
            <a:r>
              <a:rPr lang="en-US" sz="2800" dirty="0"/>
              <a:t>)</a:t>
            </a:r>
            <a:r>
              <a:rPr lang="en-US" sz="2800" dirty="0" err="1"/>
              <a:t>nya</a:t>
            </a:r>
            <a:r>
              <a:rPr lang="en-US" sz="2800" dirty="0"/>
              <a:t>. </a:t>
            </a:r>
            <a:r>
              <a:rPr lang="en-US" sz="2800" dirty="0" err="1"/>
              <a:t>Oleh</a:t>
            </a:r>
            <a:r>
              <a:rPr lang="en-US" sz="2800" dirty="0"/>
              <a:t> </a:t>
            </a:r>
            <a:r>
              <a:rPr lang="en-US" sz="2800" dirty="0" err="1"/>
              <a:t>sebab</a:t>
            </a:r>
            <a:r>
              <a:rPr lang="en-US" sz="2800" dirty="0"/>
              <a:t> </a:t>
            </a:r>
            <a:r>
              <a:rPr lang="en-US" sz="2800" dirty="0" err="1"/>
              <a:t>itu</a:t>
            </a:r>
            <a:r>
              <a:rPr lang="en-US" sz="2800" dirty="0"/>
              <a:t>, </a:t>
            </a:r>
            <a:r>
              <a:rPr lang="en-US" sz="2800" dirty="0" err="1"/>
              <a:t>hendaklah</a:t>
            </a:r>
            <a:r>
              <a:rPr lang="en-US" sz="2800" dirty="0"/>
              <a:t> </a:t>
            </a:r>
            <a:r>
              <a:rPr lang="en-US" sz="2800" dirty="0" err="1"/>
              <a:t>mereka</a:t>
            </a:r>
            <a:r>
              <a:rPr lang="en-US" sz="2800" dirty="0"/>
              <a:t> </a:t>
            </a:r>
            <a:r>
              <a:rPr lang="en-US" sz="2800" dirty="0" err="1">
                <a:solidFill>
                  <a:srgbClr val="C00000"/>
                </a:solidFill>
              </a:rPr>
              <a:t>bertakwa</a:t>
            </a:r>
            <a:r>
              <a:rPr lang="en-US" sz="2800" dirty="0">
                <a:solidFill>
                  <a:srgbClr val="C00000"/>
                </a:solidFill>
              </a:rPr>
              <a:t> </a:t>
            </a:r>
            <a:r>
              <a:rPr lang="en-US" sz="2800" dirty="0" err="1">
                <a:solidFill>
                  <a:srgbClr val="C00000"/>
                </a:solidFill>
              </a:rPr>
              <a:t>kepada</a:t>
            </a:r>
            <a:r>
              <a:rPr lang="en-US" sz="2800" dirty="0">
                <a:solidFill>
                  <a:srgbClr val="C00000"/>
                </a:solidFill>
              </a:rPr>
              <a:t> Allah, </a:t>
            </a:r>
            <a:r>
              <a:rPr lang="en-US" sz="2800" dirty="0" err="1"/>
              <a:t>dan</a:t>
            </a:r>
            <a:r>
              <a:rPr lang="en-US" sz="2800" dirty="0"/>
              <a:t> </a:t>
            </a:r>
            <a:r>
              <a:rPr lang="en-US" sz="2800" dirty="0" err="1"/>
              <a:t>hendaklah</a:t>
            </a:r>
            <a:r>
              <a:rPr lang="en-US" sz="2800" dirty="0"/>
              <a:t> </a:t>
            </a:r>
            <a:r>
              <a:rPr lang="en-US" sz="2800" dirty="0" err="1"/>
              <a:t>mereka</a:t>
            </a:r>
            <a:r>
              <a:rPr lang="en-US" sz="2800" dirty="0"/>
              <a:t> </a:t>
            </a:r>
            <a:r>
              <a:rPr lang="en-US" sz="2800" dirty="0" err="1">
                <a:solidFill>
                  <a:srgbClr val="C00000"/>
                </a:solidFill>
              </a:rPr>
              <a:t>berbicara</a:t>
            </a:r>
            <a:r>
              <a:rPr lang="en-US" sz="2800" dirty="0">
                <a:solidFill>
                  <a:srgbClr val="C00000"/>
                </a:solidFill>
              </a:rPr>
              <a:t> </a:t>
            </a:r>
            <a:r>
              <a:rPr lang="en-US" sz="2800" dirty="0" err="1">
                <a:solidFill>
                  <a:srgbClr val="C00000"/>
                </a:solidFill>
              </a:rPr>
              <a:t>dengan</a:t>
            </a:r>
            <a:r>
              <a:rPr lang="en-US" sz="2800" dirty="0">
                <a:solidFill>
                  <a:srgbClr val="C00000"/>
                </a:solidFill>
              </a:rPr>
              <a:t> </a:t>
            </a:r>
            <a:r>
              <a:rPr lang="en-US" sz="2800" dirty="0" err="1">
                <a:solidFill>
                  <a:srgbClr val="C00000"/>
                </a:solidFill>
              </a:rPr>
              <a:t>tutur</a:t>
            </a:r>
            <a:r>
              <a:rPr lang="en-US" sz="2800" dirty="0">
                <a:solidFill>
                  <a:srgbClr val="C00000"/>
                </a:solidFill>
              </a:rPr>
              <a:t> kata yang </a:t>
            </a:r>
            <a:r>
              <a:rPr lang="en-US" sz="2800" dirty="0" err="1">
                <a:solidFill>
                  <a:srgbClr val="C00000"/>
                </a:solidFill>
              </a:rPr>
              <a:t>benar</a:t>
            </a:r>
            <a:r>
              <a:rPr lang="en-US" sz="2800" dirty="0"/>
              <a:t>.</a:t>
            </a:r>
            <a:endParaRPr lang="en-US" sz="2800" dirty="0">
              <a:solidFill>
                <a:schemeClr val="tx1">
                  <a:lumMod val="95000"/>
                  <a:lumOff val="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ircle(in)">
                                      <p:cBhvr>
                                        <p:cTn id="1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89780" y="533400"/>
            <a:ext cx="5789295" cy="645160"/>
          </a:xfrm>
          <a:prstGeom prst="rect">
            <a:avLst/>
          </a:prstGeom>
          <a:noFill/>
        </p:spPr>
        <p:txBody>
          <a:bodyPr wrap="none" rtlCol="0">
            <a:spAutoFit/>
          </a:bodyPr>
          <a:lstStyle/>
          <a:p>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Al Qur’an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Surat</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Nisa</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 10</a:t>
            </a:r>
          </a:p>
        </p:txBody>
      </p:sp>
      <p:sp>
        <p:nvSpPr>
          <p:cNvPr id="5" name="TextBox 4"/>
          <p:cNvSpPr txBox="1"/>
          <p:nvPr/>
        </p:nvSpPr>
        <p:spPr>
          <a:xfrm>
            <a:off x="838200" y="1447800"/>
            <a:ext cx="7543800" cy="1753235"/>
          </a:xfrm>
          <a:prstGeom prst="rect">
            <a:avLst/>
          </a:prstGeom>
          <a:noFill/>
        </p:spPr>
        <p:txBody>
          <a:bodyPr wrap="square" rtlCol="0">
            <a:spAutoFit/>
          </a:bodyPr>
          <a:lstStyle/>
          <a:p>
            <a:pPr algn="ctr">
              <a:lnSpc>
                <a:spcPct val="150000"/>
              </a:lnSpc>
            </a:pPr>
            <a:r>
              <a:rPr lang="ar-SA" sz="3600" dirty="0"/>
              <a:t>اِنَّ الَّذِيْنَ يَأْكُلُوْنَ اَمْوَالَ الْيَتٰمٰى ظُلْمًا اِنَّمَا يَأْكُلُوْنَ فِيْ بُطُوْنِهِمْ نَارًا ۗ وَسَيَصْلَوْنَ سَعِيْرًا ࣖ</a:t>
            </a:r>
          </a:p>
        </p:txBody>
      </p:sp>
      <p:sp>
        <p:nvSpPr>
          <p:cNvPr id="6" name="TextBox 5"/>
          <p:cNvSpPr txBox="1"/>
          <p:nvPr/>
        </p:nvSpPr>
        <p:spPr>
          <a:xfrm>
            <a:off x="838200" y="3276600"/>
            <a:ext cx="7543800" cy="1814830"/>
          </a:xfrm>
          <a:prstGeom prst="rect">
            <a:avLst/>
          </a:prstGeom>
          <a:noFill/>
        </p:spPr>
        <p:txBody>
          <a:bodyPr wrap="square" rtlCol="0">
            <a:spAutoFit/>
          </a:bodyPr>
          <a:lstStyle/>
          <a:p>
            <a:pPr algn="ctr"/>
            <a:r>
              <a:rPr lang="en-US" sz="2800" dirty="0" err="1"/>
              <a:t>Sesungguhnya</a:t>
            </a:r>
            <a:r>
              <a:rPr lang="en-US" sz="2800" dirty="0"/>
              <a:t> orang-orang yang </a:t>
            </a:r>
            <a:r>
              <a:rPr lang="en-US" sz="2800" u="sng" dirty="0" err="1">
                <a:solidFill>
                  <a:srgbClr val="C00000"/>
                </a:solidFill>
              </a:rPr>
              <a:t>memakan</a:t>
            </a:r>
            <a:r>
              <a:rPr lang="en-US" sz="2800" u="sng" dirty="0">
                <a:solidFill>
                  <a:srgbClr val="C00000"/>
                </a:solidFill>
              </a:rPr>
              <a:t> </a:t>
            </a:r>
            <a:r>
              <a:rPr lang="en-US" sz="2800" u="sng" dirty="0" err="1">
                <a:solidFill>
                  <a:srgbClr val="C00000"/>
                </a:solidFill>
              </a:rPr>
              <a:t>harta</a:t>
            </a:r>
            <a:r>
              <a:rPr lang="en-US" sz="2800" u="sng" dirty="0">
                <a:solidFill>
                  <a:srgbClr val="C00000"/>
                </a:solidFill>
              </a:rPr>
              <a:t> </a:t>
            </a:r>
            <a:r>
              <a:rPr lang="en-US" sz="2800" u="sng" dirty="0" err="1">
                <a:solidFill>
                  <a:srgbClr val="C00000"/>
                </a:solidFill>
              </a:rPr>
              <a:t>anak</a:t>
            </a:r>
            <a:r>
              <a:rPr lang="en-US" sz="2800" u="sng" dirty="0">
                <a:solidFill>
                  <a:srgbClr val="C00000"/>
                </a:solidFill>
              </a:rPr>
              <a:t> </a:t>
            </a:r>
            <a:r>
              <a:rPr lang="en-US" sz="2800" u="sng" dirty="0" err="1">
                <a:solidFill>
                  <a:srgbClr val="C00000"/>
                </a:solidFill>
              </a:rPr>
              <a:t>yatim</a:t>
            </a:r>
            <a:r>
              <a:rPr lang="en-US" sz="2800" u="sng" dirty="0">
                <a:solidFill>
                  <a:srgbClr val="C00000"/>
                </a:solidFill>
              </a:rPr>
              <a:t> </a:t>
            </a:r>
            <a:r>
              <a:rPr lang="en-US" sz="2800" u="sng" dirty="0" err="1">
                <a:solidFill>
                  <a:srgbClr val="C00000"/>
                </a:solidFill>
              </a:rPr>
              <a:t>secara</a:t>
            </a:r>
            <a:r>
              <a:rPr lang="en-US" sz="2800" u="sng" dirty="0">
                <a:solidFill>
                  <a:srgbClr val="C00000"/>
                </a:solidFill>
              </a:rPr>
              <a:t> </a:t>
            </a:r>
            <a:r>
              <a:rPr lang="en-US" sz="2800" u="sng" dirty="0" err="1">
                <a:solidFill>
                  <a:srgbClr val="C00000"/>
                </a:solidFill>
              </a:rPr>
              <a:t>zalim</a:t>
            </a:r>
            <a:r>
              <a:rPr lang="en-US" sz="2800" u="sng" dirty="0">
                <a:solidFill>
                  <a:srgbClr val="C00000"/>
                </a:solidFill>
              </a:rPr>
              <a:t>, </a:t>
            </a:r>
            <a:r>
              <a:rPr lang="en-US" sz="2800" dirty="0" err="1"/>
              <a:t>sebenarnya</a:t>
            </a:r>
            <a:r>
              <a:rPr lang="en-US" sz="2800" dirty="0"/>
              <a:t> </a:t>
            </a:r>
            <a:r>
              <a:rPr lang="en-US" sz="2800" dirty="0" err="1"/>
              <a:t>mereka</a:t>
            </a:r>
            <a:r>
              <a:rPr lang="en-US" sz="2800" dirty="0"/>
              <a:t> </a:t>
            </a:r>
            <a:r>
              <a:rPr lang="en-US" sz="2800" dirty="0" err="1"/>
              <a:t>itu</a:t>
            </a:r>
            <a:r>
              <a:rPr lang="en-US" sz="2800" dirty="0"/>
              <a:t> </a:t>
            </a:r>
            <a:r>
              <a:rPr lang="en-US" sz="2800" u="sng" dirty="0" err="1">
                <a:solidFill>
                  <a:srgbClr val="C00000"/>
                </a:solidFill>
              </a:rPr>
              <a:t>menelan</a:t>
            </a:r>
            <a:r>
              <a:rPr lang="en-US" sz="2800" u="sng" dirty="0">
                <a:solidFill>
                  <a:srgbClr val="C00000"/>
                </a:solidFill>
              </a:rPr>
              <a:t> </a:t>
            </a:r>
            <a:r>
              <a:rPr lang="en-US" sz="2800" u="sng" dirty="0" err="1">
                <a:solidFill>
                  <a:srgbClr val="C00000"/>
                </a:solidFill>
              </a:rPr>
              <a:t>api</a:t>
            </a:r>
            <a:r>
              <a:rPr lang="en-US" sz="2800" u="sng" dirty="0">
                <a:solidFill>
                  <a:srgbClr val="C00000"/>
                </a:solidFill>
              </a:rPr>
              <a:t> </a:t>
            </a:r>
            <a:r>
              <a:rPr lang="en-US" sz="2800" u="sng" dirty="0" err="1">
                <a:solidFill>
                  <a:srgbClr val="C00000"/>
                </a:solidFill>
              </a:rPr>
              <a:t>dalam</a:t>
            </a:r>
            <a:r>
              <a:rPr lang="en-US" sz="2800" u="sng" dirty="0">
                <a:solidFill>
                  <a:srgbClr val="C00000"/>
                </a:solidFill>
              </a:rPr>
              <a:t> </a:t>
            </a:r>
            <a:r>
              <a:rPr lang="en-US" sz="2800" u="sng" dirty="0" err="1">
                <a:solidFill>
                  <a:srgbClr val="C00000"/>
                </a:solidFill>
              </a:rPr>
              <a:t>perutnya</a:t>
            </a:r>
            <a:r>
              <a:rPr lang="en-US" sz="2800" u="sng" dirty="0">
                <a:solidFill>
                  <a:srgbClr val="C00000"/>
                </a:solidFill>
              </a:rPr>
              <a:t> </a:t>
            </a:r>
            <a:r>
              <a:rPr lang="en-US" sz="2800" dirty="0" err="1"/>
              <a:t>dan</a:t>
            </a:r>
            <a:r>
              <a:rPr lang="en-US" sz="2800" dirty="0"/>
              <a:t> </a:t>
            </a:r>
            <a:r>
              <a:rPr lang="en-US" sz="2800" dirty="0" err="1"/>
              <a:t>mereka</a:t>
            </a:r>
            <a:r>
              <a:rPr lang="en-US" sz="2800" dirty="0"/>
              <a:t> </a:t>
            </a:r>
            <a:r>
              <a:rPr lang="en-US" sz="2800" dirty="0" err="1"/>
              <a:t>akan</a:t>
            </a:r>
            <a:r>
              <a:rPr lang="en-US" sz="2800" dirty="0"/>
              <a:t> </a:t>
            </a:r>
            <a:r>
              <a:rPr lang="en-US" sz="2800" dirty="0" err="1">
                <a:solidFill>
                  <a:srgbClr val="C00000"/>
                </a:solidFill>
              </a:rPr>
              <a:t>masuk</a:t>
            </a:r>
            <a:r>
              <a:rPr lang="en-US" sz="2800" dirty="0">
                <a:solidFill>
                  <a:srgbClr val="C00000"/>
                </a:solidFill>
              </a:rPr>
              <a:t> </a:t>
            </a:r>
            <a:r>
              <a:rPr lang="en-US" sz="2800" dirty="0" err="1">
                <a:solidFill>
                  <a:srgbClr val="C00000"/>
                </a:solidFill>
              </a:rPr>
              <a:t>ke</a:t>
            </a:r>
            <a:r>
              <a:rPr lang="en-US" sz="2800" dirty="0">
                <a:solidFill>
                  <a:srgbClr val="C00000"/>
                </a:solidFill>
              </a:rPr>
              <a:t> </a:t>
            </a:r>
            <a:r>
              <a:rPr lang="en-US" sz="2800" dirty="0" err="1">
                <a:solidFill>
                  <a:srgbClr val="C00000"/>
                </a:solidFill>
              </a:rPr>
              <a:t>dalam</a:t>
            </a:r>
            <a:r>
              <a:rPr lang="en-US" sz="2800" dirty="0">
                <a:solidFill>
                  <a:srgbClr val="C00000"/>
                </a:solidFill>
              </a:rPr>
              <a:t> </a:t>
            </a:r>
            <a:r>
              <a:rPr lang="en-US" sz="2800" dirty="0" err="1">
                <a:solidFill>
                  <a:srgbClr val="C00000"/>
                </a:solidFill>
              </a:rPr>
              <a:t>api</a:t>
            </a:r>
            <a:r>
              <a:rPr lang="en-US" sz="2800" dirty="0">
                <a:solidFill>
                  <a:srgbClr val="C00000"/>
                </a:solidFill>
              </a:rPr>
              <a:t> yang </a:t>
            </a:r>
            <a:r>
              <a:rPr lang="en-US" sz="2800" dirty="0" err="1">
                <a:solidFill>
                  <a:srgbClr val="C00000"/>
                </a:solidFill>
              </a:rPr>
              <a:t>menyala-nyala</a:t>
            </a:r>
            <a:r>
              <a:rPr lang="en-US" sz="2800" dirty="0">
                <a:solidFill>
                  <a:srgbClr val="C00000"/>
                </a:solidFill>
              </a:rPr>
              <a:t> </a:t>
            </a:r>
            <a:r>
              <a:rPr lang="en-US" sz="2800" dirty="0"/>
              <a:t>(</a:t>
            </a:r>
            <a:r>
              <a:rPr lang="en-US" sz="2800" dirty="0" err="1"/>
              <a:t>neraka</a:t>
            </a:r>
            <a:r>
              <a:rPr lang="en-US" sz="28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ircle(in)">
                                      <p:cBhvr>
                                        <p:cTn id="1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89780" y="533400"/>
            <a:ext cx="5688965" cy="645160"/>
          </a:xfrm>
          <a:prstGeom prst="rect">
            <a:avLst/>
          </a:prstGeom>
          <a:noFill/>
        </p:spPr>
        <p:txBody>
          <a:bodyPr wrap="none" rtlCol="0">
            <a:spAutoFit/>
          </a:bodyPr>
          <a:lstStyle/>
          <a:p>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Al Qur’an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Surat</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Nisa</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 11</a:t>
            </a:r>
          </a:p>
        </p:txBody>
      </p:sp>
      <p:sp>
        <p:nvSpPr>
          <p:cNvPr id="5" name="TextBox 4"/>
          <p:cNvSpPr txBox="1"/>
          <p:nvPr/>
        </p:nvSpPr>
        <p:spPr>
          <a:xfrm>
            <a:off x="685800" y="1447800"/>
            <a:ext cx="7745730" cy="5262245"/>
          </a:xfrm>
          <a:prstGeom prst="rect">
            <a:avLst/>
          </a:prstGeom>
          <a:noFill/>
        </p:spPr>
        <p:txBody>
          <a:bodyPr wrap="square" rtlCol="0">
            <a:spAutoFit/>
          </a:bodyPr>
          <a:lstStyle/>
          <a:p>
            <a:pPr algn="ctr">
              <a:lnSpc>
                <a:spcPct val="150000"/>
              </a:lnSpc>
            </a:pPr>
            <a:r>
              <a:rPr lang="ar-SA" sz="3200" dirty="0"/>
              <a:t>يُوْصِيْكُمُ اللّٰهُ فِيْٓ اَوْلَادِكُمْ لِلذَّكَرِ مِثْلُ حَظِّ الْاُنْثَيَيْنِ ۚ فَاِنْ كُنَّ نِسَاۤءً فَوْقَ اثْنَتَيْنِ فَلَهُنَّ ثُلُثَا مَا تَرَكَ ۚ وَاِنْ كَانَتْ وَاحِدَةً فَلَهَا النِّصْفُ ۗ وَلِاَبَوَيْهِ لِكُلِّ وَاحِدٍ مِّنْهُمَا السُّدُسُ مِمَّا تَرَكَ اِنْ كَانَ لَهٗ وَلَدٌ ۚ فَاِنْ لَّمْ يَكُنْ لَّهٗ وَلَدٌ وَّوَرِثَهٗٓ اَبَوٰهُ فَلِاُمِّهِ الثُّلُثُ ۚ فَاِنْ كَانَ لَهٗٓ اِخْوَةٌ فَلِاُمِّهِ السُّدُسُ مِنْۢ بَعْدِ وَصِيَّةٍ يُّوْصِيْ بِهَآ اَوْ دَيْنٍ ۗ اٰبَاۤؤُكُمْ وَاَبْنَاۤؤُكُمْۚ لَا تَدْرُوْنَ اَيُّهُمْ اَقْرَبُ لَكُمْ نَفْعًا ۗ فَرِيْضَةً مِّنَ اللّٰهِ ۗ اِنَّ اللّٰهَ كَانَ عَلِيْمًا حَكِيْمًا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89780" y="457200"/>
            <a:ext cx="5288280" cy="645160"/>
          </a:xfrm>
          <a:prstGeom prst="rect">
            <a:avLst/>
          </a:prstGeom>
          <a:noFill/>
        </p:spPr>
        <p:txBody>
          <a:bodyPr wrap="none" rtlCol="0">
            <a:spAutoFit/>
          </a:bodyPr>
          <a:lstStyle/>
          <a:p>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Terjemah</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QS. 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Nisa</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 11</a:t>
            </a:r>
          </a:p>
        </p:txBody>
      </p:sp>
      <p:sp>
        <p:nvSpPr>
          <p:cNvPr id="6" name="TextBox 5"/>
          <p:cNvSpPr txBox="1"/>
          <p:nvPr/>
        </p:nvSpPr>
        <p:spPr>
          <a:xfrm>
            <a:off x="457200" y="1371600"/>
            <a:ext cx="8229600" cy="5016758"/>
          </a:xfrm>
          <a:prstGeom prst="rect">
            <a:avLst/>
          </a:prstGeom>
          <a:noFill/>
        </p:spPr>
        <p:txBody>
          <a:bodyPr wrap="square" rtlCol="0">
            <a:spAutoFit/>
          </a:bodyPr>
          <a:lstStyle/>
          <a:p>
            <a:pPr algn="ctr"/>
            <a:r>
              <a:rPr lang="en-US" sz="2000" dirty="0"/>
              <a:t>Allah </a:t>
            </a:r>
            <a:r>
              <a:rPr lang="en-US" sz="2000" dirty="0" err="1"/>
              <a:t>mensyariatkan</a:t>
            </a:r>
            <a:r>
              <a:rPr lang="en-US" sz="2000" dirty="0"/>
              <a:t> (</a:t>
            </a:r>
            <a:r>
              <a:rPr lang="en-US" sz="2000" dirty="0" err="1"/>
              <a:t>mewajibkan</a:t>
            </a:r>
            <a:r>
              <a:rPr lang="en-US" sz="2000" dirty="0"/>
              <a:t>) </a:t>
            </a:r>
            <a:r>
              <a:rPr lang="en-US" sz="2000" dirty="0" err="1"/>
              <a:t>kepadamu</a:t>
            </a:r>
            <a:r>
              <a:rPr lang="en-US" sz="2000" dirty="0"/>
              <a:t> </a:t>
            </a:r>
            <a:r>
              <a:rPr lang="en-US" sz="2000" dirty="0" err="1"/>
              <a:t>tentang</a:t>
            </a:r>
            <a:r>
              <a:rPr lang="en-US" sz="2000" dirty="0"/>
              <a:t> (</a:t>
            </a:r>
            <a:r>
              <a:rPr lang="en-US" sz="2000" dirty="0" err="1"/>
              <a:t>pembagian</a:t>
            </a:r>
            <a:r>
              <a:rPr lang="en-US" sz="2000" dirty="0"/>
              <a:t> </a:t>
            </a:r>
            <a:r>
              <a:rPr lang="en-US" sz="2000" dirty="0" err="1"/>
              <a:t>warisan</a:t>
            </a:r>
            <a:r>
              <a:rPr lang="en-US" sz="2000" dirty="0"/>
              <a:t> </a:t>
            </a:r>
            <a:r>
              <a:rPr lang="en-US" sz="2000" dirty="0" err="1"/>
              <a:t>untuk</a:t>
            </a:r>
            <a:r>
              <a:rPr lang="en-US" sz="2000" dirty="0"/>
              <a:t>) </a:t>
            </a:r>
            <a:r>
              <a:rPr lang="en-US" sz="2000" dirty="0" err="1"/>
              <a:t>anak-anakmu</a:t>
            </a:r>
            <a:r>
              <a:rPr lang="en-US" sz="2000" dirty="0"/>
              <a:t>, (</a:t>
            </a:r>
            <a:r>
              <a:rPr lang="en-US" sz="2000" dirty="0" err="1"/>
              <a:t>yaitu</a:t>
            </a:r>
            <a:r>
              <a:rPr lang="en-US" sz="2000" dirty="0"/>
              <a:t>) </a:t>
            </a:r>
            <a:r>
              <a:rPr lang="en-US" sz="2000" dirty="0" err="1"/>
              <a:t>bagian</a:t>
            </a:r>
            <a:r>
              <a:rPr lang="en-US" sz="2000" dirty="0"/>
              <a:t> </a:t>
            </a:r>
            <a:r>
              <a:rPr lang="en-US" sz="2000" dirty="0" err="1">
                <a:solidFill>
                  <a:srgbClr val="C00000"/>
                </a:solidFill>
              </a:rPr>
              <a:t>seorang</a:t>
            </a:r>
            <a:r>
              <a:rPr lang="en-US" sz="2000" dirty="0">
                <a:solidFill>
                  <a:srgbClr val="C00000"/>
                </a:solidFill>
              </a:rPr>
              <a:t> </a:t>
            </a:r>
            <a:r>
              <a:rPr lang="en-US" sz="2000" dirty="0" err="1">
                <a:solidFill>
                  <a:srgbClr val="C00000"/>
                </a:solidFill>
              </a:rPr>
              <a:t>anak</a:t>
            </a:r>
            <a:r>
              <a:rPr lang="en-US" sz="2000" dirty="0">
                <a:solidFill>
                  <a:srgbClr val="C00000"/>
                </a:solidFill>
              </a:rPr>
              <a:t> </a:t>
            </a:r>
            <a:r>
              <a:rPr lang="en-US" sz="2000" dirty="0" err="1">
                <a:solidFill>
                  <a:srgbClr val="C00000"/>
                </a:solidFill>
              </a:rPr>
              <a:t>laki-laki</a:t>
            </a:r>
            <a:r>
              <a:rPr lang="en-US" sz="2000" dirty="0">
                <a:solidFill>
                  <a:srgbClr val="C00000"/>
                </a:solidFill>
              </a:rPr>
              <a:t> </a:t>
            </a:r>
            <a:r>
              <a:rPr lang="en-US" sz="2000" dirty="0" err="1">
                <a:solidFill>
                  <a:srgbClr val="C00000"/>
                </a:solidFill>
              </a:rPr>
              <a:t>sama</a:t>
            </a:r>
            <a:r>
              <a:rPr lang="en-US" sz="2000" dirty="0">
                <a:solidFill>
                  <a:srgbClr val="C00000"/>
                </a:solidFill>
              </a:rPr>
              <a:t> </a:t>
            </a:r>
            <a:r>
              <a:rPr lang="en-US" sz="2000" dirty="0" err="1">
                <a:solidFill>
                  <a:srgbClr val="C00000"/>
                </a:solidFill>
              </a:rPr>
              <a:t>dengan</a:t>
            </a:r>
            <a:r>
              <a:rPr lang="en-US" sz="2000" dirty="0">
                <a:solidFill>
                  <a:srgbClr val="C00000"/>
                </a:solidFill>
              </a:rPr>
              <a:t> </a:t>
            </a:r>
            <a:r>
              <a:rPr lang="en-US" sz="2000" dirty="0" err="1">
                <a:solidFill>
                  <a:srgbClr val="C00000"/>
                </a:solidFill>
              </a:rPr>
              <a:t>bagian</a:t>
            </a:r>
            <a:r>
              <a:rPr lang="en-US" sz="2000" dirty="0">
                <a:solidFill>
                  <a:srgbClr val="C00000"/>
                </a:solidFill>
              </a:rPr>
              <a:t> </a:t>
            </a:r>
            <a:r>
              <a:rPr lang="en-US" sz="2000" dirty="0" err="1">
                <a:solidFill>
                  <a:srgbClr val="C00000"/>
                </a:solidFill>
              </a:rPr>
              <a:t>dua</a:t>
            </a:r>
            <a:r>
              <a:rPr lang="en-US" sz="2000" dirty="0">
                <a:solidFill>
                  <a:srgbClr val="C00000"/>
                </a:solidFill>
              </a:rPr>
              <a:t> orang </a:t>
            </a:r>
            <a:r>
              <a:rPr lang="en-US" sz="2000" dirty="0" err="1">
                <a:solidFill>
                  <a:srgbClr val="C00000"/>
                </a:solidFill>
              </a:rPr>
              <a:t>anak</a:t>
            </a:r>
            <a:r>
              <a:rPr lang="en-US" sz="2000" dirty="0">
                <a:solidFill>
                  <a:srgbClr val="C00000"/>
                </a:solidFill>
              </a:rPr>
              <a:t> </a:t>
            </a:r>
            <a:r>
              <a:rPr lang="en-US" sz="2000" dirty="0" err="1">
                <a:solidFill>
                  <a:srgbClr val="C00000"/>
                </a:solidFill>
              </a:rPr>
              <a:t>perempuan</a:t>
            </a:r>
            <a:r>
              <a:rPr lang="en-US" sz="2000" dirty="0"/>
              <a:t>. Dan </a:t>
            </a:r>
            <a:r>
              <a:rPr lang="en-US" sz="2000" dirty="0" err="1"/>
              <a:t>jika</a:t>
            </a:r>
            <a:r>
              <a:rPr lang="en-US" sz="2000" dirty="0"/>
              <a:t> </a:t>
            </a:r>
            <a:r>
              <a:rPr lang="en-US" sz="2000" dirty="0" err="1"/>
              <a:t>anak</a:t>
            </a:r>
            <a:r>
              <a:rPr lang="en-US" sz="2000" dirty="0"/>
              <a:t> </a:t>
            </a:r>
            <a:r>
              <a:rPr lang="en-US" sz="2000" dirty="0" err="1"/>
              <a:t>itu</a:t>
            </a:r>
            <a:r>
              <a:rPr lang="en-US" sz="2000" dirty="0"/>
              <a:t> </a:t>
            </a:r>
            <a:r>
              <a:rPr lang="en-US" sz="2000" dirty="0" err="1">
                <a:solidFill>
                  <a:srgbClr val="C00000"/>
                </a:solidFill>
              </a:rPr>
              <a:t>semuanya</a:t>
            </a:r>
            <a:r>
              <a:rPr lang="en-US" sz="2000" dirty="0">
                <a:solidFill>
                  <a:srgbClr val="C00000"/>
                </a:solidFill>
              </a:rPr>
              <a:t> </a:t>
            </a:r>
            <a:r>
              <a:rPr lang="en-US" sz="2000" dirty="0" err="1">
                <a:solidFill>
                  <a:srgbClr val="C00000"/>
                </a:solidFill>
              </a:rPr>
              <a:t>perempuan</a:t>
            </a:r>
            <a:r>
              <a:rPr lang="en-US" sz="2000" dirty="0">
                <a:solidFill>
                  <a:srgbClr val="C00000"/>
                </a:solidFill>
              </a:rPr>
              <a:t> yang </a:t>
            </a:r>
            <a:r>
              <a:rPr lang="en-US" sz="2000" dirty="0" err="1">
                <a:solidFill>
                  <a:srgbClr val="C00000"/>
                </a:solidFill>
              </a:rPr>
              <a:t>jumlahnya</a:t>
            </a:r>
            <a:r>
              <a:rPr lang="en-US" sz="2000" dirty="0">
                <a:solidFill>
                  <a:srgbClr val="C00000"/>
                </a:solidFill>
              </a:rPr>
              <a:t> </a:t>
            </a:r>
            <a:r>
              <a:rPr lang="en-US" sz="2000" dirty="0" err="1">
                <a:solidFill>
                  <a:srgbClr val="C00000"/>
                </a:solidFill>
              </a:rPr>
              <a:t>lebih</a:t>
            </a:r>
            <a:r>
              <a:rPr lang="en-US" sz="2000" dirty="0">
                <a:solidFill>
                  <a:srgbClr val="C00000"/>
                </a:solidFill>
              </a:rPr>
              <a:t> </a:t>
            </a:r>
            <a:r>
              <a:rPr lang="en-US" sz="2000" dirty="0" err="1">
                <a:solidFill>
                  <a:srgbClr val="C00000"/>
                </a:solidFill>
              </a:rPr>
              <a:t>dari</a:t>
            </a:r>
            <a:r>
              <a:rPr lang="en-US" sz="2000" dirty="0">
                <a:solidFill>
                  <a:srgbClr val="C00000"/>
                </a:solidFill>
              </a:rPr>
              <a:t> </a:t>
            </a:r>
            <a:r>
              <a:rPr lang="en-US" sz="2000" dirty="0" err="1">
                <a:solidFill>
                  <a:srgbClr val="C00000"/>
                </a:solidFill>
              </a:rPr>
              <a:t>dua</a:t>
            </a:r>
            <a:r>
              <a:rPr lang="en-US" sz="2000" dirty="0">
                <a:solidFill>
                  <a:srgbClr val="C00000"/>
                </a:solidFill>
              </a:rPr>
              <a:t>, </a:t>
            </a:r>
            <a:r>
              <a:rPr lang="en-US" sz="2000" dirty="0" err="1"/>
              <a:t>maka</a:t>
            </a:r>
            <a:r>
              <a:rPr lang="en-US" sz="2000" dirty="0"/>
              <a:t> </a:t>
            </a:r>
            <a:r>
              <a:rPr lang="en-US" sz="2000" dirty="0" err="1"/>
              <a:t>bagian</a:t>
            </a:r>
            <a:r>
              <a:rPr lang="en-US" sz="2000" dirty="0"/>
              <a:t> </a:t>
            </a:r>
            <a:r>
              <a:rPr lang="en-US" sz="2000" dirty="0" err="1"/>
              <a:t>mereka</a:t>
            </a:r>
            <a:r>
              <a:rPr lang="en-US" sz="2000" dirty="0"/>
              <a:t> </a:t>
            </a:r>
            <a:r>
              <a:rPr lang="en-US" sz="2000" dirty="0" err="1">
                <a:solidFill>
                  <a:srgbClr val="C00000"/>
                </a:solidFill>
              </a:rPr>
              <a:t>dua</a:t>
            </a:r>
            <a:r>
              <a:rPr lang="en-US" sz="2000" dirty="0">
                <a:solidFill>
                  <a:srgbClr val="C00000"/>
                </a:solidFill>
              </a:rPr>
              <a:t> </a:t>
            </a:r>
            <a:r>
              <a:rPr lang="en-US" sz="2000" dirty="0" err="1">
                <a:solidFill>
                  <a:srgbClr val="C00000"/>
                </a:solidFill>
              </a:rPr>
              <a:t>pertiga</a:t>
            </a:r>
            <a:r>
              <a:rPr lang="en-US" sz="2000" dirty="0">
                <a:solidFill>
                  <a:srgbClr val="C00000"/>
                </a:solidFill>
              </a:rPr>
              <a:t> </a:t>
            </a:r>
            <a:r>
              <a:rPr lang="en-US" sz="2000" dirty="0" err="1"/>
              <a:t>dari</a:t>
            </a:r>
            <a:r>
              <a:rPr lang="en-US" sz="2000" dirty="0"/>
              <a:t> </a:t>
            </a:r>
            <a:r>
              <a:rPr lang="en-US" sz="2000" dirty="0" err="1"/>
              <a:t>harta</a:t>
            </a:r>
            <a:r>
              <a:rPr lang="en-US" sz="2000" dirty="0"/>
              <a:t> yang </a:t>
            </a:r>
            <a:r>
              <a:rPr lang="en-US" sz="2000" dirty="0" err="1"/>
              <a:t>ditinggalkan</a:t>
            </a:r>
            <a:r>
              <a:rPr lang="en-US" sz="2000" dirty="0"/>
              <a:t>. </a:t>
            </a:r>
            <a:r>
              <a:rPr lang="en-US" sz="2000" dirty="0" err="1"/>
              <a:t>Jika</a:t>
            </a:r>
            <a:r>
              <a:rPr lang="en-US" sz="2000" dirty="0"/>
              <a:t> </a:t>
            </a:r>
            <a:r>
              <a:rPr lang="en-US" sz="2000" dirty="0" err="1"/>
              <a:t>dia</a:t>
            </a:r>
            <a:r>
              <a:rPr lang="en-US" sz="2000" dirty="0"/>
              <a:t> (</a:t>
            </a:r>
            <a:r>
              <a:rPr lang="en-US" sz="2000" dirty="0" err="1"/>
              <a:t>anak</a:t>
            </a:r>
            <a:r>
              <a:rPr lang="en-US" sz="2000" dirty="0"/>
              <a:t> </a:t>
            </a:r>
            <a:r>
              <a:rPr lang="en-US" sz="2000" dirty="0" err="1"/>
              <a:t>perempuan</a:t>
            </a:r>
            <a:r>
              <a:rPr lang="en-US" sz="2000" dirty="0"/>
              <a:t>) </a:t>
            </a:r>
            <a:r>
              <a:rPr lang="en-US" sz="2000" dirty="0" err="1"/>
              <a:t>itu</a:t>
            </a:r>
            <a:r>
              <a:rPr lang="en-US" sz="2000" dirty="0"/>
              <a:t> </a:t>
            </a:r>
            <a:r>
              <a:rPr lang="en-US" sz="2000" dirty="0" err="1">
                <a:solidFill>
                  <a:srgbClr val="C00000"/>
                </a:solidFill>
              </a:rPr>
              <a:t>seorang</a:t>
            </a:r>
            <a:r>
              <a:rPr lang="en-US" sz="2000" dirty="0">
                <a:solidFill>
                  <a:srgbClr val="C00000"/>
                </a:solidFill>
              </a:rPr>
              <a:t> </a:t>
            </a:r>
            <a:r>
              <a:rPr lang="en-US" sz="2000" dirty="0" err="1">
                <a:solidFill>
                  <a:srgbClr val="C00000"/>
                </a:solidFill>
              </a:rPr>
              <a:t>saja</a:t>
            </a:r>
            <a:r>
              <a:rPr lang="en-US" sz="2000" dirty="0"/>
              <a:t>, </a:t>
            </a:r>
            <a:r>
              <a:rPr lang="en-US" sz="2000" dirty="0" err="1"/>
              <a:t>maka</a:t>
            </a:r>
            <a:r>
              <a:rPr lang="en-US" sz="2000" dirty="0"/>
              <a:t> </a:t>
            </a:r>
            <a:r>
              <a:rPr lang="en-US" sz="2000" dirty="0" err="1"/>
              <a:t>dia</a:t>
            </a:r>
            <a:r>
              <a:rPr lang="en-US" sz="2000" dirty="0"/>
              <a:t> </a:t>
            </a:r>
            <a:r>
              <a:rPr lang="en-US" sz="2000" dirty="0" err="1"/>
              <a:t>memperoleh</a:t>
            </a:r>
            <a:r>
              <a:rPr lang="en-US" sz="2000" dirty="0"/>
              <a:t> </a:t>
            </a:r>
            <a:r>
              <a:rPr lang="en-US" sz="2000" dirty="0" err="1">
                <a:solidFill>
                  <a:srgbClr val="C00000"/>
                </a:solidFill>
              </a:rPr>
              <a:t>setengah</a:t>
            </a:r>
            <a:r>
              <a:rPr lang="en-US" sz="2000" dirty="0"/>
              <a:t> (</a:t>
            </a:r>
            <a:r>
              <a:rPr lang="en-US" sz="2000" dirty="0" err="1"/>
              <a:t>harta</a:t>
            </a:r>
            <a:r>
              <a:rPr lang="en-US" sz="2000" dirty="0"/>
              <a:t> yang </a:t>
            </a:r>
            <a:r>
              <a:rPr lang="en-US" sz="2000" dirty="0" err="1"/>
              <a:t>ditinggalkan</a:t>
            </a:r>
            <a:r>
              <a:rPr lang="en-US" sz="2000" dirty="0"/>
              <a:t>). Dan </a:t>
            </a:r>
            <a:r>
              <a:rPr lang="en-US" sz="2000" dirty="0" err="1">
                <a:solidFill>
                  <a:srgbClr val="C00000"/>
                </a:solidFill>
              </a:rPr>
              <a:t>untuk</a:t>
            </a:r>
            <a:r>
              <a:rPr lang="en-US" sz="2000" dirty="0">
                <a:solidFill>
                  <a:srgbClr val="C00000"/>
                </a:solidFill>
              </a:rPr>
              <a:t> </a:t>
            </a:r>
            <a:r>
              <a:rPr lang="en-US" sz="2000" dirty="0" err="1">
                <a:solidFill>
                  <a:srgbClr val="C00000"/>
                </a:solidFill>
              </a:rPr>
              <a:t>kedua</a:t>
            </a:r>
            <a:r>
              <a:rPr lang="en-US" sz="2000" dirty="0">
                <a:solidFill>
                  <a:srgbClr val="C00000"/>
                </a:solidFill>
              </a:rPr>
              <a:t> </a:t>
            </a:r>
            <a:r>
              <a:rPr lang="en-US" sz="2000" dirty="0" err="1">
                <a:solidFill>
                  <a:srgbClr val="C00000"/>
                </a:solidFill>
              </a:rPr>
              <a:t>ibu-bapak</a:t>
            </a:r>
            <a:r>
              <a:rPr lang="en-US" sz="2000" dirty="0"/>
              <a:t>, </a:t>
            </a:r>
            <a:r>
              <a:rPr lang="en-US" sz="2000" dirty="0" err="1"/>
              <a:t>bagian</a:t>
            </a:r>
            <a:r>
              <a:rPr lang="en-US" sz="2000" dirty="0"/>
              <a:t> </a:t>
            </a:r>
            <a:r>
              <a:rPr lang="en-US" sz="2000" dirty="0" err="1"/>
              <a:t>masing-masing</a:t>
            </a:r>
            <a:r>
              <a:rPr lang="en-US" sz="2000" dirty="0"/>
              <a:t> </a:t>
            </a:r>
            <a:r>
              <a:rPr lang="en-US" sz="2000" dirty="0" err="1">
                <a:solidFill>
                  <a:srgbClr val="C00000"/>
                </a:solidFill>
              </a:rPr>
              <a:t>seperenam</a:t>
            </a:r>
            <a:r>
              <a:rPr lang="en-US" sz="2000" dirty="0"/>
              <a:t> </a:t>
            </a:r>
            <a:r>
              <a:rPr lang="en-US" sz="2000" dirty="0" err="1"/>
              <a:t>dari</a:t>
            </a:r>
            <a:r>
              <a:rPr lang="en-US" sz="2000" dirty="0"/>
              <a:t> </a:t>
            </a:r>
            <a:r>
              <a:rPr lang="en-US" sz="2000" dirty="0" err="1"/>
              <a:t>harta</a:t>
            </a:r>
            <a:r>
              <a:rPr lang="en-US" sz="2000" dirty="0"/>
              <a:t> yang </a:t>
            </a:r>
            <a:r>
              <a:rPr lang="en-US" sz="2000" dirty="0" err="1"/>
              <a:t>ditinggalkan</a:t>
            </a:r>
            <a:r>
              <a:rPr lang="en-US" sz="2000" dirty="0"/>
              <a:t>, </a:t>
            </a:r>
            <a:r>
              <a:rPr lang="en-US" sz="2000" dirty="0" err="1"/>
              <a:t>jika</a:t>
            </a:r>
            <a:r>
              <a:rPr lang="en-US" sz="2000" dirty="0"/>
              <a:t> </a:t>
            </a:r>
            <a:r>
              <a:rPr lang="en-US" sz="2000" dirty="0" err="1"/>
              <a:t>dia</a:t>
            </a:r>
            <a:r>
              <a:rPr lang="en-US" sz="2000" dirty="0"/>
              <a:t> (yang </a:t>
            </a:r>
            <a:r>
              <a:rPr lang="en-US" sz="2000" dirty="0" err="1"/>
              <a:t>meninggal</a:t>
            </a:r>
            <a:r>
              <a:rPr lang="en-US" sz="2000" dirty="0"/>
              <a:t>) </a:t>
            </a:r>
            <a:r>
              <a:rPr lang="en-US" sz="2000" dirty="0" err="1"/>
              <a:t>mempunyai</a:t>
            </a:r>
            <a:r>
              <a:rPr lang="en-US" sz="2000" dirty="0"/>
              <a:t> </a:t>
            </a:r>
            <a:r>
              <a:rPr lang="en-US" sz="2000" dirty="0" err="1"/>
              <a:t>anak</a:t>
            </a:r>
            <a:r>
              <a:rPr lang="en-US" sz="2000" dirty="0"/>
              <a:t>. </a:t>
            </a:r>
            <a:r>
              <a:rPr lang="en-US" sz="2000" dirty="0" err="1"/>
              <a:t>Jika</a:t>
            </a:r>
            <a:r>
              <a:rPr lang="en-US" sz="2000" dirty="0"/>
              <a:t> </a:t>
            </a:r>
            <a:r>
              <a:rPr lang="en-US" sz="2000" dirty="0" err="1"/>
              <a:t>dia</a:t>
            </a:r>
            <a:r>
              <a:rPr lang="en-US" sz="2000" dirty="0"/>
              <a:t> (yang </a:t>
            </a:r>
            <a:r>
              <a:rPr lang="en-US" sz="2000" dirty="0" err="1"/>
              <a:t>meninggal</a:t>
            </a:r>
            <a:r>
              <a:rPr lang="en-US" sz="2000" dirty="0"/>
              <a:t>) </a:t>
            </a:r>
            <a:r>
              <a:rPr lang="en-US" sz="2000" dirty="0" err="1">
                <a:solidFill>
                  <a:srgbClr val="C00000"/>
                </a:solidFill>
              </a:rPr>
              <a:t>tidak</a:t>
            </a:r>
            <a:r>
              <a:rPr lang="en-US" sz="2000" dirty="0">
                <a:solidFill>
                  <a:srgbClr val="C00000"/>
                </a:solidFill>
              </a:rPr>
              <a:t> </a:t>
            </a:r>
            <a:r>
              <a:rPr lang="en-US" sz="2000" dirty="0" err="1">
                <a:solidFill>
                  <a:srgbClr val="C00000"/>
                </a:solidFill>
              </a:rPr>
              <a:t>mempunyai</a:t>
            </a:r>
            <a:r>
              <a:rPr lang="en-US" sz="2000" dirty="0">
                <a:solidFill>
                  <a:srgbClr val="C00000"/>
                </a:solidFill>
              </a:rPr>
              <a:t> </a:t>
            </a:r>
            <a:r>
              <a:rPr lang="en-US" sz="2000" dirty="0" err="1">
                <a:solidFill>
                  <a:srgbClr val="C00000"/>
                </a:solidFill>
              </a:rPr>
              <a:t>anak</a:t>
            </a:r>
            <a:r>
              <a:rPr lang="en-US" sz="2000" dirty="0">
                <a:solidFill>
                  <a:srgbClr val="C00000"/>
                </a:solidFill>
              </a:rPr>
              <a:t> </a:t>
            </a:r>
            <a:r>
              <a:rPr lang="en-US" sz="2000" dirty="0" err="1">
                <a:solidFill>
                  <a:srgbClr val="C00000"/>
                </a:solidFill>
              </a:rPr>
              <a:t>dan</a:t>
            </a:r>
            <a:r>
              <a:rPr lang="en-US" sz="2000" dirty="0">
                <a:solidFill>
                  <a:srgbClr val="C00000"/>
                </a:solidFill>
              </a:rPr>
              <a:t> </a:t>
            </a:r>
            <a:r>
              <a:rPr lang="en-US" sz="2000" dirty="0" err="1">
                <a:solidFill>
                  <a:srgbClr val="C00000"/>
                </a:solidFill>
              </a:rPr>
              <a:t>dia</a:t>
            </a:r>
            <a:r>
              <a:rPr lang="en-US" sz="2000" dirty="0">
                <a:solidFill>
                  <a:srgbClr val="C00000"/>
                </a:solidFill>
              </a:rPr>
              <a:t> </a:t>
            </a:r>
            <a:r>
              <a:rPr lang="en-US" sz="2000" dirty="0" err="1">
                <a:solidFill>
                  <a:srgbClr val="C00000"/>
                </a:solidFill>
              </a:rPr>
              <a:t>diwarisi</a:t>
            </a:r>
            <a:r>
              <a:rPr lang="en-US" sz="2000" dirty="0">
                <a:solidFill>
                  <a:srgbClr val="C00000"/>
                </a:solidFill>
              </a:rPr>
              <a:t> </a:t>
            </a:r>
            <a:r>
              <a:rPr lang="en-US" sz="2000" dirty="0" err="1">
                <a:solidFill>
                  <a:srgbClr val="C00000"/>
                </a:solidFill>
              </a:rPr>
              <a:t>oleh</a:t>
            </a:r>
            <a:r>
              <a:rPr lang="en-US" sz="2000" dirty="0">
                <a:solidFill>
                  <a:srgbClr val="C00000"/>
                </a:solidFill>
              </a:rPr>
              <a:t> </a:t>
            </a:r>
            <a:r>
              <a:rPr lang="en-US" sz="2000" dirty="0" err="1">
                <a:solidFill>
                  <a:srgbClr val="C00000"/>
                </a:solidFill>
              </a:rPr>
              <a:t>kedua</a:t>
            </a:r>
            <a:r>
              <a:rPr lang="en-US" sz="2000" dirty="0">
                <a:solidFill>
                  <a:srgbClr val="C00000"/>
                </a:solidFill>
              </a:rPr>
              <a:t> </a:t>
            </a:r>
            <a:r>
              <a:rPr lang="en-US" sz="2000" dirty="0" err="1">
                <a:solidFill>
                  <a:srgbClr val="C00000"/>
                </a:solidFill>
              </a:rPr>
              <a:t>ibu-bapaknya</a:t>
            </a:r>
            <a:r>
              <a:rPr lang="en-US" sz="2000" dirty="0">
                <a:solidFill>
                  <a:srgbClr val="C00000"/>
                </a:solidFill>
              </a:rPr>
              <a:t> (</a:t>
            </a:r>
            <a:r>
              <a:rPr lang="en-US" sz="2000" dirty="0" err="1">
                <a:solidFill>
                  <a:srgbClr val="C00000"/>
                </a:solidFill>
              </a:rPr>
              <a:t>saja</a:t>
            </a:r>
            <a:r>
              <a:rPr lang="en-US" sz="2000" dirty="0">
                <a:solidFill>
                  <a:srgbClr val="C00000"/>
                </a:solidFill>
              </a:rPr>
              <a:t>),</a:t>
            </a:r>
            <a:r>
              <a:rPr lang="en-US" sz="2000" dirty="0"/>
              <a:t> </a:t>
            </a:r>
            <a:r>
              <a:rPr lang="en-US" sz="2000" dirty="0" err="1"/>
              <a:t>maka</a:t>
            </a:r>
            <a:r>
              <a:rPr lang="en-US" sz="2000" dirty="0"/>
              <a:t> </a:t>
            </a:r>
            <a:r>
              <a:rPr lang="en-US" sz="2000" dirty="0" err="1">
                <a:solidFill>
                  <a:srgbClr val="C00000"/>
                </a:solidFill>
              </a:rPr>
              <a:t>ibunya</a:t>
            </a:r>
            <a:r>
              <a:rPr lang="en-US" sz="2000" dirty="0">
                <a:solidFill>
                  <a:srgbClr val="C00000"/>
                </a:solidFill>
              </a:rPr>
              <a:t> </a:t>
            </a:r>
            <a:r>
              <a:rPr lang="en-US" sz="2000" dirty="0" err="1"/>
              <a:t>mendapat</a:t>
            </a:r>
            <a:r>
              <a:rPr lang="en-US" sz="2000" dirty="0"/>
              <a:t> </a:t>
            </a:r>
            <a:r>
              <a:rPr lang="en-US" sz="2000" dirty="0" err="1">
                <a:solidFill>
                  <a:srgbClr val="C00000"/>
                </a:solidFill>
              </a:rPr>
              <a:t>sepertiga</a:t>
            </a:r>
            <a:r>
              <a:rPr lang="en-US" sz="2000" dirty="0"/>
              <a:t>. </a:t>
            </a:r>
            <a:r>
              <a:rPr lang="en-US" sz="2000" dirty="0" err="1"/>
              <a:t>Jika</a:t>
            </a:r>
            <a:r>
              <a:rPr lang="en-US" sz="2000" dirty="0"/>
              <a:t> </a:t>
            </a:r>
            <a:r>
              <a:rPr lang="en-US" sz="2000" dirty="0" err="1"/>
              <a:t>dia</a:t>
            </a:r>
            <a:r>
              <a:rPr lang="en-US" sz="2000" dirty="0"/>
              <a:t> (yang </a:t>
            </a:r>
            <a:r>
              <a:rPr lang="en-US" sz="2000" dirty="0" err="1"/>
              <a:t>meninggal</a:t>
            </a:r>
            <a:r>
              <a:rPr lang="en-US" sz="2000" dirty="0"/>
              <a:t>) </a:t>
            </a:r>
            <a:r>
              <a:rPr lang="en-US" sz="2000" dirty="0" err="1"/>
              <a:t>mempunyai</a:t>
            </a:r>
            <a:r>
              <a:rPr lang="en-US" sz="2000" dirty="0"/>
              <a:t> </a:t>
            </a:r>
            <a:r>
              <a:rPr lang="en-US" sz="2000" dirty="0" err="1">
                <a:solidFill>
                  <a:srgbClr val="C00000"/>
                </a:solidFill>
              </a:rPr>
              <a:t>beberapa</a:t>
            </a:r>
            <a:r>
              <a:rPr lang="en-US" sz="2000" dirty="0">
                <a:solidFill>
                  <a:srgbClr val="C00000"/>
                </a:solidFill>
              </a:rPr>
              <a:t> </a:t>
            </a:r>
            <a:r>
              <a:rPr lang="en-US" sz="2000" dirty="0" err="1">
                <a:solidFill>
                  <a:srgbClr val="C00000"/>
                </a:solidFill>
              </a:rPr>
              <a:t>saudara</a:t>
            </a:r>
            <a:r>
              <a:rPr lang="en-US" sz="2000" dirty="0">
                <a:solidFill>
                  <a:srgbClr val="C00000"/>
                </a:solidFill>
              </a:rPr>
              <a:t>,</a:t>
            </a:r>
            <a:r>
              <a:rPr lang="en-US" sz="2000" dirty="0"/>
              <a:t> </a:t>
            </a:r>
            <a:r>
              <a:rPr lang="en-US" sz="2000" dirty="0" err="1"/>
              <a:t>maka</a:t>
            </a:r>
            <a:r>
              <a:rPr lang="en-US" sz="2000" dirty="0"/>
              <a:t> </a:t>
            </a:r>
            <a:r>
              <a:rPr lang="en-US" sz="2000" dirty="0" err="1">
                <a:solidFill>
                  <a:srgbClr val="C00000"/>
                </a:solidFill>
              </a:rPr>
              <a:t>ibunya</a:t>
            </a:r>
            <a:r>
              <a:rPr lang="en-US" sz="2000" dirty="0"/>
              <a:t> </a:t>
            </a:r>
            <a:r>
              <a:rPr lang="en-US" sz="2000" dirty="0" err="1"/>
              <a:t>mendapat</a:t>
            </a:r>
            <a:r>
              <a:rPr lang="en-US" sz="2000" dirty="0"/>
              <a:t> </a:t>
            </a:r>
            <a:r>
              <a:rPr lang="en-US" sz="2000" dirty="0" err="1">
                <a:solidFill>
                  <a:srgbClr val="C00000"/>
                </a:solidFill>
              </a:rPr>
              <a:t>seperenam</a:t>
            </a:r>
            <a:r>
              <a:rPr lang="en-US" sz="2000" dirty="0"/>
              <a:t>. (</a:t>
            </a:r>
            <a:r>
              <a:rPr lang="en-US" sz="2000" dirty="0" err="1"/>
              <a:t>Pembagian-pembagian</a:t>
            </a:r>
            <a:r>
              <a:rPr lang="en-US" sz="2000" dirty="0"/>
              <a:t> </a:t>
            </a:r>
            <a:r>
              <a:rPr lang="en-US" sz="2000" dirty="0" err="1"/>
              <a:t>tersebut</a:t>
            </a:r>
            <a:r>
              <a:rPr lang="en-US" sz="2000" dirty="0"/>
              <a:t> di </a:t>
            </a:r>
            <a:r>
              <a:rPr lang="en-US" sz="2000" dirty="0" err="1"/>
              <a:t>atas</a:t>
            </a:r>
            <a:r>
              <a:rPr lang="en-US" sz="2000" dirty="0"/>
              <a:t>) </a:t>
            </a:r>
            <a:r>
              <a:rPr lang="en-US" sz="2000" dirty="0" err="1"/>
              <a:t>setelah</a:t>
            </a:r>
            <a:r>
              <a:rPr lang="en-US" sz="2000" dirty="0"/>
              <a:t> (</a:t>
            </a:r>
            <a:r>
              <a:rPr lang="en-US" sz="2000" dirty="0" err="1"/>
              <a:t>dipenuhi</a:t>
            </a:r>
            <a:r>
              <a:rPr lang="en-US" sz="2000" dirty="0"/>
              <a:t>) </a:t>
            </a:r>
            <a:r>
              <a:rPr lang="en-US" sz="2000" dirty="0" err="1"/>
              <a:t>wasiat</a:t>
            </a:r>
            <a:r>
              <a:rPr lang="en-US" sz="2000" dirty="0"/>
              <a:t> yang </a:t>
            </a:r>
            <a:r>
              <a:rPr lang="en-US" sz="2000" dirty="0" err="1"/>
              <a:t>dibuatnya</a:t>
            </a:r>
            <a:r>
              <a:rPr lang="en-US" sz="2000" dirty="0"/>
              <a:t> </a:t>
            </a:r>
            <a:r>
              <a:rPr lang="en-US" sz="2000" dirty="0" err="1"/>
              <a:t>atau</a:t>
            </a:r>
            <a:r>
              <a:rPr lang="en-US" sz="2000" dirty="0"/>
              <a:t> (</a:t>
            </a:r>
            <a:r>
              <a:rPr lang="en-US" sz="2000" dirty="0" err="1"/>
              <a:t>dan</a:t>
            </a:r>
            <a:r>
              <a:rPr lang="en-US" sz="2000" dirty="0"/>
              <a:t> </a:t>
            </a:r>
            <a:r>
              <a:rPr lang="en-US" sz="2000" dirty="0" err="1"/>
              <a:t>setelah</a:t>
            </a:r>
            <a:r>
              <a:rPr lang="en-US" sz="2000" dirty="0"/>
              <a:t> </a:t>
            </a:r>
            <a:r>
              <a:rPr lang="en-US" sz="2000" dirty="0" err="1"/>
              <a:t>dibayar</a:t>
            </a:r>
            <a:r>
              <a:rPr lang="en-US" sz="2000" dirty="0"/>
              <a:t>) </a:t>
            </a:r>
            <a:r>
              <a:rPr lang="en-US" sz="2000" dirty="0" err="1"/>
              <a:t>utangnya</a:t>
            </a:r>
            <a:r>
              <a:rPr lang="en-US" sz="2000" dirty="0"/>
              <a:t>. (</a:t>
            </a:r>
            <a:r>
              <a:rPr lang="en-US" sz="2000" dirty="0" err="1"/>
              <a:t>Tentang</a:t>
            </a:r>
            <a:r>
              <a:rPr lang="en-US" sz="2000" dirty="0"/>
              <a:t>) orang </a:t>
            </a:r>
            <a:r>
              <a:rPr lang="en-US" sz="2000" dirty="0" err="1"/>
              <a:t>tuamu</a:t>
            </a:r>
            <a:r>
              <a:rPr lang="en-US" sz="2000" dirty="0"/>
              <a:t> </a:t>
            </a:r>
            <a:r>
              <a:rPr lang="en-US" sz="2000" dirty="0" err="1"/>
              <a:t>dan</a:t>
            </a:r>
            <a:r>
              <a:rPr lang="en-US" sz="2000" dirty="0"/>
              <a:t> </a:t>
            </a:r>
            <a:r>
              <a:rPr lang="en-US" sz="2000" dirty="0" err="1"/>
              <a:t>anak-anakmu</a:t>
            </a:r>
            <a:r>
              <a:rPr lang="en-US" sz="2000" dirty="0"/>
              <a:t>, </a:t>
            </a:r>
            <a:r>
              <a:rPr lang="en-US" sz="2000" dirty="0" err="1"/>
              <a:t>kamu</a:t>
            </a:r>
            <a:r>
              <a:rPr lang="en-US" sz="2000" dirty="0"/>
              <a:t> </a:t>
            </a:r>
            <a:r>
              <a:rPr lang="en-US" sz="2000" dirty="0" err="1"/>
              <a:t>tidak</a:t>
            </a:r>
            <a:r>
              <a:rPr lang="en-US" sz="2000" dirty="0"/>
              <a:t> </a:t>
            </a:r>
            <a:r>
              <a:rPr lang="en-US" sz="2000" dirty="0" err="1"/>
              <a:t>mengetahui</a:t>
            </a:r>
            <a:r>
              <a:rPr lang="en-US" sz="2000" dirty="0"/>
              <a:t> </a:t>
            </a:r>
            <a:r>
              <a:rPr lang="en-US" sz="2000" dirty="0" err="1"/>
              <a:t>siapa</a:t>
            </a:r>
            <a:r>
              <a:rPr lang="en-US" sz="2000" dirty="0"/>
              <a:t> di </a:t>
            </a:r>
            <a:r>
              <a:rPr lang="en-US" sz="2000" dirty="0" err="1"/>
              <a:t>antara</a:t>
            </a:r>
            <a:r>
              <a:rPr lang="en-US" sz="2000" dirty="0"/>
              <a:t> </a:t>
            </a:r>
            <a:r>
              <a:rPr lang="en-US" sz="2000" dirty="0" err="1"/>
              <a:t>mereka</a:t>
            </a:r>
            <a:r>
              <a:rPr lang="en-US" sz="2000" dirty="0"/>
              <a:t> yang </a:t>
            </a:r>
            <a:r>
              <a:rPr lang="en-US" sz="2000" dirty="0" err="1"/>
              <a:t>lebih</a:t>
            </a:r>
            <a:r>
              <a:rPr lang="en-US" sz="2000" dirty="0"/>
              <a:t> </a:t>
            </a:r>
            <a:r>
              <a:rPr lang="en-US" sz="2000" dirty="0" err="1"/>
              <a:t>banyak</a:t>
            </a:r>
            <a:r>
              <a:rPr lang="en-US" sz="2000" dirty="0"/>
              <a:t> </a:t>
            </a:r>
            <a:r>
              <a:rPr lang="en-US" sz="2000" dirty="0" err="1"/>
              <a:t>manfaatnya</a:t>
            </a:r>
            <a:r>
              <a:rPr lang="en-US" sz="2000" dirty="0"/>
              <a:t> </a:t>
            </a:r>
            <a:r>
              <a:rPr lang="en-US" sz="2000" dirty="0" err="1"/>
              <a:t>bagimu</a:t>
            </a:r>
            <a:r>
              <a:rPr lang="en-US" sz="2000" dirty="0"/>
              <a:t>. </a:t>
            </a:r>
            <a:r>
              <a:rPr lang="en-US" sz="2000" dirty="0" err="1"/>
              <a:t>Ini</a:t>
            </a:r>
            <a:r>
              <a:rPr lang="en-US" sz="2000" dirty="0"/>
              <a:t> </a:t>
            </a:r>
            <a:r>
              <a:rPr lang="en-US" sz="2000" dirty="0" err="1"/>
              <a:t>adalah</a:t>
            </a:r>
            <a:r>
              <a:rPr lang="en-US" sz="2000" dirty="0"/>
              <a:t> </a:t>
            </a:r>
            <a:r>
              <a:rPr lang="en-US" sz="2000" dirty="0" err="1"/>
              <a:t>ketetapan</a:t>
            </a:r>
            <a:r>
              <a:rPr lang="en-US" sz="2000" dirty="0"/>
              <a:t> Allah. </a:t>
            </a:r>
            <a:r>
              <a:rPr lang="en-US" sz="2000" dirty="0" err="1"/>
              <a:t>Sungguh</a:t>
            </a:r>
            <a:r>
              <a:rPr lang="en-US" sz="2000" dirty="0"/>
              <a:t>, Allah </a:t>
            </a:r>
            <a:r>
              <a:rPr lang="en-US" sz="2000" dirty="0" err="1"/>
              <a:t>Maha</a:t>
            </a:r>
            <a:r>
              <a:rPr lang="en-US" sz="2000" dirty="0"/>
              <a:t> </a:t>
            </a:r>
            <a:r>
              <a:rPr lang="en-US" sz="2000" dirty="0" err="1"/>
              <a:t>Mengetahui</a:t>
            </a:r>
            <a:r>
              <a:rPr lang="en-US" sz="2000" dirty="0"/>
              <a:t>, </a:t>
            </a:r>
            <a:r>
              <a:rPr lang="en-US" sz="2000" dirty="0" err="1"/>
              <a:t>Mahabijaksana</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89780" y="533400"/>
            <a:ext cx="5773420" cy="645160"/>
          </a:xfrm>
          <a:prstGeom prst="rect">
            <a:avLst/>
          </a:prstGeom>
          <a:noFill/>
        </p:spPr>
        <p:txBody>
          <a:bodyPr wrap="none" rtlCol="0">
            <a:spAutoFit/>
          </a:bodyPr>
          <a:lstStyle/>
          <a:p>
            <a:pPr algn="ct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Al Qur’an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Surat</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Nisa</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 12</a:t>
            </a:r>
          </a:p>
        </p:txBody>
      </p:sp>
      <p:sp>
        <p:nvSpPr>
          <p:cNvPr id="5" name="TextBox 4"/>
          <p:cNvSpPr txBox="1"/>
          <p:nvPr/>
        </p:nvSpPr>
        <p:spPr>
          <a:xfrm>
            <a:off x="838200" y="1447800"/>
            <a:ext cx="7543800" cy="4547079"/>
          </a:xfrm>
          <a:prstGeom prst="rect">
            <a:avLst/>
          </a:prstGeom>
          <a:noFill/>
        </p:spPr>
        <p:txBody>
          <a:bodyPr wrap="square" rtlCol="0">
            <a:spAutoFit/>
          </a:bodyPr>
          <a:lstStyle/>
          <a:p>
            <a:pPr algn="ctr">
              <a:lnSpc>
                <a:spcPct val="150000"/>
              </a:lnSpc>
            </a:pPr>
            <a:r>
              <a:rPr lang="ar-SA" sz="2800" dirty="0"/>
              <a:t>وَلَكُمْ نِصْفُ مَا تَرَكَ اَزْوَاجُكُمْ اِنْ لَّمْ يَكُنْ لَّهُنَّ وَلَدٌ ۚ فَاِنْ كَانَ لَهُنَّ وَلَدٌ فَلَكُمُ الرُّبُعُ مِمَّا تَرَكْنَ مِنْۢ بَعْدِ وَصِيَّةٍ يُّوْصِيْنَ بِهَآ اَوْ دَيْنٍ ۗ وَلَهُنَّ الرُّبُعُ مِمَّا تَرَكْتُمْ اِنْ لَّمْ يَكُنْ لَّكُمْ وَلَدٌ ۚ فَاِنْ كَانَ لَكُمْ وَلَدٌ فَلَهُنَّ الثُّمُنُ مِمَّا تَرَكْتُمْ مِّنْۢ بَعْدِ وَصِيَّةٍ تُوْصُوْنَ بِهَآ اَوْ دَيْنٍ ۗ وَاِنْ كَانَ رَجُلٌ يُّوْرَثُ كَلٰلَةً اَوِ امْرَاَةٌ وَّلَهٗٓ اَخٌ اَوْ اُخْتٌ فَلِكُلِّ وَاحِدٍ مِّنْهُمَا السُّدُسُۚ فَاِنْ كَانُوْٓا اَكْثَرَ مِنْ ذٰلِكَ فَهُمْ شُرَكَاۤءُ فِى الثُّلُثِ مِنْۢ بَعْدِ وَصِيَّةٍ يُّوْصٰى بِهَآ اَوْ دَيْنٍۙ غَيْرَ مُضَاۤرٍّ ۚ وَصِيَّةً مِّنَ اللّٰهِ ۗ وَاللّٰهُ عَلِيْمٌ حَلِيْمٌۗ</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89780" y="457200"/>
            <a:ext cx="5372735" cy="645160"/>
          </a:xfrm>
          <a:prstGeom prst="rect">
            <a:avLst/>
          </a:prstGeom>
          <a:noFill/>
        </p:spPr>
        <p:txBody>
          <a:bodyPr wrap="none" rtlCol="0">
            <a:spAutoFit/>
          </a:bodyPr>
          <a:lstStyle/>
          <a:p>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Terjemah</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QS. 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Nisa</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 12</a:t>
            </a:r>
          </a:p>
        </p:txBody>
      </p:sp>
      <p:sp>
        <p:nvSpPr>
          <p:cNvPr id="6" name="TextBox 5"/>
          <p:cNvSpPr txBox="1"/>
          <p:nvPr/>
        </p:nvSpPr>
        <p:spPr>
          <a:xfrm>
            <a:off x="314960" y="1209040"/>
            <a:ext cx="8487410" cy="5323205"/>
          </a:xfrm>
          <a:prstGeom prst="rect">
            <a:avLst/>
          </a:prstGeom>
          <a:noFill/>
        </p:spPr>
        <p:txBody>
          <a:bodyPr wrap="square" rtlCol="0">
            <a:spAutoFit/>
          </a:bodyPr>
          <a:lstStyle/>
          <a:p>
            <a:pPr algn="ctr"/>
            <a:r>
              <a:rPr lang="en-US" sz="2000" dirty="0"/>
              <a:t> Dan </a:t>
            </a:r>
            <a:r>
              <a:rPr lang="en-US" sz="2000" dirty="0" err="1"/>
              <a:t>bagianmu</a:t>
            </a:r>
            <a:r>
              <a:rPr lang="en-US" sz="2000" dirty="0"/>
              <a:t> </a:t>
            </a:r>
            <a:r>
              <a:rPr lang="en-US" sz="2000" u="sng" dirty="0">
                <a:solidFill>
                  <a:srgbClr val="C00000"/>
                </a:solidFill>
              </a:rPr>
              <a:t>(</a:t>
            </a:r>
            <a:r>
              <a:rPr lang="en-US" sz="2000" u="sng" dirty="0" err="1">
                <a:solidFill>
                  <a:srgbClr val="C00000"/>
                </a:solidFill>
              </a:rPr>
              <a:t>suami-suami</a:t>
            </a:r>
            <a:r>
              <a:rPr lang="en-US" sz="2000" dirty="0"/>
              <a:t>) </a:t>
            </a:r>
            <a:r>
              <a:rPr lang="en-US" sz="2000" dirty="0" err="1"/>
              <a:t>adalah</a:t>
            </a:r>
            <a:r>
              <a:rPr lang="en-US" sz="2000" dirty="0"/>
              <a:t> </a:t>
            </a:r>
            <a:r>
              <a:rPr lang="en-US" sz="2000" dirty="0" err="1">
                <a:solidFill>
                  <a:srgbClr val="C00000"/>
                </a:solidFill>
              </a:rPr>
              <a:t>seperdua</a:t>
            </a:r>
            <a:r>
              <a:rPr lang="en-US" sz="2000" dirty="0"/>
              <a:t> </a:t>
            </a:r>
            <a:r>
              <a:rPr lang="en-US" sz="2000" dirty="0" err="1"/>
              <a:t>dari</a:t>
            </a:r>
            <a:r>
              <a:rPr lang="en-US" sz="2000" dirty="0"/>
              <a:t> </a:t>
            </a:r>
            <a:r>
              <a:rPr lang="en-US" sz="2000" dirty="0" err="1"/>
              <a:t>harta</a:t>
            </a:r>
            <a:r>
              <a:rPr lang="en-US" sz="2000" dirty="0"/>
              <a:t> yang </a:t>
            </a:r>
            <a:r>
              <a:rPr lang="en-US" sz="2000" dirty="0" err="1"/>
              <a:t>ditinggalkan</a:t>
            </a:r>
            <a:r>
              <a:rPr lang="en-US" sz="2000" dirty="0"/>
              <a:t> </a:t>
            </a:r>
            <a:r>
              <a:rPr lang="en-US" sz="2000" dirty="0" err="1"/>
              <a:t>oleh</a:t>
            </a:r>
            <a:r>
              <a:rPr lang="en-US" sz="2000" dirty="0"/>
              <a:t> </a:t>
            </a:r>
            <a:r>
              <a:rPr lang="en-US" sz="2000" dirty="0" err="1"/>
              <a:t>istri-istrimu</a:t>
            </a:r>
            <a:r>
              <a:rPr lang="en-US" sz="2000" dirty="0"/>
              <a:t>, </a:t>
            </a:r>
            <a:r>
              <a:rPr lang="en-US" sz="2000" dirty="0" err="1"/>
              <a:t>jika</a:t>
            </a:r>
            <a:r>
              <a:rPr lang="en-US" sz="2000" dirty="0"/>
              <a:t> </a:t>
            </a:r>
            <a:r>
              <a:rPr lang="en-US" sz="2000" dirty="0" err="1"/>
              <a:t>mereka</a:t>
            </a:r>
            <a:r>
              <a:rPr lang="en-US" sz="2000" dirty="0"/>
              <a:t> </a:t>
            </a:r>
            <a:r>
              <a:rPr lang="en-US" sz="2000" dirty="0" err="1"/>
              <a:t>tidak</a:t>
            </a:r>
            <a:r>
              <a:rPr lang="en-US" sz="2000" dirty="0"/>
              <a:t> </a:t>
            </a:r>
            <a:r>
              <a:rPr lang="en-US" sz="2000" dirty="0" err="1"/>
              <a:t>mempunyai</a:t>
            </a:r>
            <a:r>
              <a:rPr lang="en-US" sz="2000" dirty="0"/>
              <a:t> </a:t>
            </a:r>
            <a:r>
              <a:rPr lang="en-US" sz="2000" dirty="0" err="1"/>
              <a:t>anak</a:t>
            </a:r>
            <a:r>
              <a:rPr lang="en-US" sz="2000" dirty="0"/>
              <a:t>. </a:t>
            </a:r>
            <a:r>
              <a:rPr lang="en-US" sz="2000" dirty="0" err="1"/>
              <a:t>Jika</a:t>
            </a:r>
            <a:r>
              <a:rPr lang="en-US" sz="2000" dirty="0"/>
              <a:t> </a:t>
            </a:r>
            <a:r>
              <a:rPr lang="en-US" sz="2000" dirty="0" err="1"/>
              <a:t>mereka</a:t>
            </a:r>
            <a:r>
              <a:rPr lang="en-US" sz="2000" dirty="0"/>
              <a:t> (</a:t>
            </a:r>
            <a:r>
              <a:rPr lang="en-US" sz="2000" dirty="0" err="1"/>
              <a:t>istri-istrimu</a:t>
            </a:r>
            <a:r>
              <a:rPr lang="en-US" sz="2000" dirty="0"/>
              <a:t>) </a:t>
            </a:r>
            <a:r>
              <a:rPr lang="en-US" sz="2000" dirty="0" err="1"/>
              <a:t>itu</a:t>
            </a:r>
            <a:r>
              <a:rPr lang="en-US" sz="2000" dirty="0"/>
              <a:t> </a:t>
            </a:r>
            <a:r>
              <a:rPr lang="en-US" sz="2000" dirty="0" err="1">
                <a:solidFill>
                  <a:srgbClr val="C00000"/>
                </a:solidFill>
              </a:rPr>
              <a:t>mempunyai</a:t>
            </a:r>
            <a:r>
              <a:rPr lang="en-US" sz="2000" dirty="0">
                <a:solidFill>
                  <a:srgbClr val="C00000"/>
                </a:solidFill>
              </a:rPr>
              <a:t> </a:t>
            </a:r>
            <a:r>
              <a:rPr lang="en-US" sz="2000" dirty="0" err="1">
                <a:solidFill>
                  <a:srgbClr val="C00000"/>
                </a:solidFill>
              </a:rPr>
              <a:t>anak</a:t>
            </a:r>
            <a:r>
              <a:rPr lang="en-US" sz="2000" dirty="0"/>
              <a:t>, </a:t>
            </a:r>
            <a:r>
              <a:rPr lang="en-US" sz="2000" dirty="0" err="1"/>
              <a:t>maka</a:t>
            </a:r>
            <a:r>
              <a:rPr lang="en-US" sz="2000" dirty="0"/>
              <a:t> </a:t>
            </a:r>
            <a:r>
              <a:rPr lang="en-US" sz="2000" dirty="0" err="1"/>
              <a:t>kamu</a:t>
            </a:r>
            <a:r>
              <a:rPr lang="en-US" sz="2000" dirty="0"/>
              <a:t> </a:t>
            </a:r>
            <a:r>
              <a:rPr lang="en-US" sz="2000" dirty="0" err="1"/>
              <a:t>mendapat</a:t>
            </a:r>
            <a:r>
              <a:rPr lang="en-US" sz="2000" dirty="0"/>
              <a:t> </a:t>
            </a:r>
            <a:r>
              <a:rPr lang="en-US" sz="2000" dirty="0" err="1">
                <a:solidFill>
                  <a:srgbClr val="C00000"/>
                </a:solidFill>
              </a:rPr>
              <a:t>seperempat</a:t>
            </a:r>
            <a:r>
              <a:rPr lang="en-US" sz="2000" dirty="0"/>
              <a:t> </a:t>
            </a:r>
            <a:r>
              <a:rPr lang="en-US" sz="2000" dirty="0" err="1"/>
              <a:t>dari</a:t>
            </a:r>
            <a:r>
              <a:rPr lang="en-US" sz="2000" dirty="0"/>
              <a:t> </a:t>
            </a:r>
            <a:r>
              <a:rPr lang="en-US" sz="2000" dirty="0" err="1"/>
              <a:t>harta</a:t>
            </a:r>
            <a:r>
              <a:rPr lang="en-US" sz="2000" dirty="0"/>
              <a:t> yang </a:t>
            </a:r>
            <a:r>
              <a:rPr lang="en-US" sz="2000" dirty="0" err="1"/>
              <a:t>ditinggalkannya</a:t>
            </a:r>
            <a:r>
              <a:rPr lang="en-US" sz="2000" dirty="0"/>
              <a:t> </a:t>
            </a:r>
            <a:r>
              <a:rPr lang="en-US" sz="2000" i="1" u="sng" dirty="0" err="1">
                <a:solidFill>
                  <a:srgbClr val="C00000"/>
                </a:solidFill>
              </a:rPr>
              <a:t>setelah</a:t>
            </a:r>
            <a:r>
              <a:rPr lang="en-US" sz="2000" i="1" u="sng" dirty="0">
                <a:solidFill>
                  <a:srgbClr val="C00000"/>
                </a:solidFill>
              </a:rPr>
              <a:t> (</a:t>
            </a:r>
            <a:r>
              <a:rPr lang="en-US" sz="2000" i="1" u="sng" dirty="0" err="1">
                <a:solidFill>
                  <a:srgbClr val="C00000"/>
                </a:solidFill>
              </a:rPr>
              <a:t>dipenuhi</a:t>
            </a:r>
            <a:r>
              <a:rPr lang="en-US" sz="2000" i="1" u="sng" dirty="0">
                <a:solidFill>
                  <a:srgbClr val="C00000"/>
                </a:solidFill>
              </a:rPr>
              <a:t>) </a:t>
            </a:r>
            <a:r>
              <a:rPr lang="en-US" sz="2000" i="1" u="sng" dirty="0" err="1">
                <a:solidFill>
                  <a:srgbClr val="C00000"/>
                </a:solidFill>
              </a:rPr>
              <a:t>wasiat</a:t>
            </a:r>
            <a:r>
              <a:rPr lang="en-US" sz="2000" i="1" u="sng" dirty="0">
                <a:solidFill>
                  <a:srgbClr val="C00000"/>
                </a:solidFill>
              </a:rPr>
              <a:t> yang </a:t>
            </a:r>
            <a:r>
              <a:rPr lang="en-US" sz="2000" i="1" u="sng" dirty="0" err="1">
                <a:solidFill>
                  <a:srgbClr val="C00000"/>
                </a:solidFill>
              </a:rPr>
              <a:t>mereka</a:t>
            </a:r>
            <a:r>
              <a:rPr lang="en-US" sz="2000" i="1" u="sng" dirty="0">
                <a:solidFill>
                  <a:srgbClr val="C00000"/>
                </a:solidFill>
              </a:rPr>
              <a:t> </a:t>
            </a:r>
            <a:r>
              <a:rPr lang="en-US" sz="2000" i="1" u="sng" dirty="0" err="1">
                <a:solidFill>
                  <a:srgbClr val="C00000"/>
                </a:solidFill>
              </a:rPr>
              <a:t>buat</a:t>
            </a:r>
            <a:r>
              <a:rPr lang="en-US" sz="2000" i="1" u="sng" dirty="0">
                <a:solidFill>
                  <a:srgbClr val="C00000"/>
                </a:solidFill>
              </a:rPr>
              <a:t> </a:t>
            </a:r>
            <a:r>
              <a:rPr lang="en-US" sz="2000" i="1" u="sng" dirty="0" err="1">
                <a:solidFill>
                  <a:srgbClr val="C00000"/>
                </a:solidFill>
              </a:rPr>
              <a:t>atau</a:t>
            </a:r>
            <a:r>
              <a:rPr lang="en-US" sz="2000" i="1" u="sng" dirty="0">
                <a:solidFill>
                  <a:srgbClr val="C00000"/>
                </a:solidFill>
              </a:rPr>
              <a:t> (</a:t>
            </a:r>
            <a:r>
              <a:rPr lang="en-US" sz="2000" i="1" u="sng" dirty="0" err="1">
                <a:solidFill>
                  <a:srgbClr val="C00000"/>
                </a:solidFill>
              </a:rPr>
              <a:t>dan</a:t>
            </a:r>
            <a:r>
              <a:rPr lang="en-US" sz="2000" i="1" u="sng" dirty="0">
                <a:solidFill>
                  <a:srgbClr val="C00000"/>
                </a:solidFill>
              </a:rPr>
              <a:t> </a:t>
            </a:r>
            <a:r>
              <a:rPr lang="en-US" sz="2000" i="1" u="sng" dirty="0" err="1">
                <a:solidFill>
                  <a:srgbClr val="C00000"/>
                </a:solidFill>
              </a:rPr>
              <a:t>setelah</a:t>
            </a:r>
            <a:r>
              <a:rPr lang="en-US" sz="2000" i="1" u="sng" dirty="0">
                <a:solidFill>
                  <a:srgbClr val="C00000"/>
                </a:solidFill>
              </a:rPr>
              <a:t> </a:t>
            </a:r>
            <a:r>
              <a:rPr lang="en-US" sz="2000" i="1" u="sng" dirty="0" err="1">
                <a:solidFill>
                  <a:srgbClr val="C00000"/>
                </a:solidFill>
              </a:rPr>
              <a:t>dibayar</a:t>
            </a:r>
            <a:r>
              <a:rPr lang="en-US" sz="2000" i="1" u="sng" dirty="0">
                <a:solidFill>
                  <a:srgbClr val="C00000"/>
                </a:solidFill>
              </a:rPr>
              <a:t>) </a:t>
            </a:r>
            <a:r>
              <a:rPr lang="en-US" sz="2000" i="1" u="sng" dirty="0" err="1">
                <a:solidFill>
                  <a:srgbClr val="C00000"/>
                </a:solidFill>
              </a:rPr>
              <a:t>utangnya</a:t>
            </a:r>
            <a:r>
              <a:rPr lang="en-US" sz="2000" dirty="0"/>
              <a:t>. Para </a:t>
            </a:r>
            <a:r>
              <a:rPr lang="en-US" sz="2000" u="sng" dirty="0" err="1">
                <a:solidFill>
                  <a:srgbClr val="C00000"/>
                </a:solidFill>
              </a:rPr>
              <a:t>istri</a:t>
            </a:r>
            <a:r>
              <a:rPr lang="en-US" sz="2000" u="sng" dirty="0">
                <a:solidFill>
                  <a:srgbClr val="C00000"/>
                </a:solidFill>
              </a:rPr>
              <a:t> </a:t>
            </a:r>
            <a:r>
              <a:rPr lang="en-US" sz="2000" dirty="0" err="1"/>
              <a:t>memperoleh</a:t>
            </a:r>
            <a:r>
              <a:rPr lang="en-US" sz="2000" dirty="0"/>
              <a:t> </a:t>
            </a:r>
            <a:r>
              <a:rPr lang="en-US" sz="2000" dirty="0" err="1">
                <a:solidFill>
                  <a:srgbClr val="C00000"/>
                </a:solidFill>
              </a:rPr>
              <a:t>seperempat</a:t>
            </a:r>
            <a:r>
              <a:rPr lang="en-US" sz="2000" dirty="0"/>
              <a:t> </a:t>
            </a:r>
            <a:r>
              <a:rPr lang="en-US" sz="2000" dirty="0" err="1"/>
              <a:t>harta</a:t>
            </a:r>
            <a:r>
              <a:rPr lang="en-US" sz="2000" dirty="0"/>
              <a:t> yang </a:t>
            </a:r>
            <a:r>
              <a:rPr lang="en-US" sz="2000" dirty="0" err="1"/>
              <a:t>kamu</a:t>
            </a:r>
            <a:r>
              <a:rPr lang="en-US" sz="2000" dirty="0"/>
              <a:t> </a:t>
            </a:r>
            <a:r>
              <a:rPr lang="en-US" sz="2000" dirty="0" err="1"/>
              <a:t>tinggalkan</a:t>
            </a:r>
            <a:r>
              <a:rPr lang="en-US" sz="2000" dirty="0"/>
              <a:t> </a:t>
            </a:r>
            <a:r>
              <a:rPr lang="en-US" sz="2000" dirty="0" err="1"/>
              <a:t>jika</a:t>
            </a:r>
            <a:r>
              <a:rPr lang="en-US" sz="2000" dirty="0"/>
              <a:t> </a:t>
            </a:r>
            <a:r>
              <a:rPr lang="en-US" sz="2000" dirty="0" err="1"/>
              <a:t>kamu</a:t>
            </a:r>
            <a:r>
              <a:rPr lang="en-US" sz="2000" dirty="0"/>
              <a:t> </a:t>
            </a:r>
            <a:r>
              <a:rPr lang="en-US" sz="2000" dirty="0" err="1"/>
              <a:t>tidak</a:t>
            </a:r>
            <a:r>
              <a:rPr lang="en-US" sz="2000" dirty="0"/>
              <a:t> </a:t>
            </a:r>
            <a:r>
              <a:rPr lang="en-US" sz="2000" dirty="0" err="1"/>
              <a:t>mempunyai</a:t>
            </a:r>
            <a:r>
              <a:rPr lang="en-US" sz="2000" dirty="0"/>
              <a:t> </a:t>
            </a:r>
            <a:r>
              <a:rPr lang="en-US" sz="2000" dirty="0" err="1"/>
              <a:t>anak</a:t>
            </a:r>
            <a:r>
              <a:rPr lang="en-US" sz="2000" dirty="0"/>
              <a:t>. </a:t>
            </a:r>
            <a:r>
              <a:rPr lang="en-US" sz="2000" dirty="0" err="1"/>
              <a:t>Jika</a:t>
            </a:r>
            <a:r>
              <a:rPr lang="en-US" sz="2000" dirty="0"/>
              <a:t> </a:t>
            </a:r>
            <a:r>
              <a:rPr lang="en-US" sz="2000" dirty="0" err="1"/>
              <a:t>kamu</a:t>
            </a:r>
            <a:r>
              <a:rPr lang="en-US" sz="2000" dirty="0"/>
              <a:t> </a:t>
            </a:r>
            <a:r>
              <a:rPr lang="en-US" sz="2000" dirty="0" err="1">
                <a:solidFill>
                  <a:srgbClr val="C00000"/>
                </a:solidFill>
              </a:rPr>
              <a:t>mempunyai</a:t>
            </a:r>
            <a:r>
              <a:rPr lang="en-US" sz="2000" dirty="0">
                <a:solidFill>
                  <a:srgbClr val="C00000"/>
                </a:solidFill>
              </a:rPr>
              <a:t> </a:t>
            </a:r>
            <a:r>
              <a:rPr lang="en-US" sz="2000" dirty="0" err="1">
                <a:solidFill>
                  <a:srgbClr val="C00000"/>
                </a:solidFill>
              </a:rPr>
              <a:t>anak</a:t>
            </a:r>
            <a:r>
              <a:rPr lang="en-US" sz="2000" dirty="0">
                <a:solidFill>
                  <a:srgbClr val="C00000"/>
                </a:solidFill>
              </a:rPr>
              <a:t>, </a:t>
            </a:r>
            <a:r>
              <a:rPr lang="en-US" sz="2000" dirty="0" err="1"/>
              <a:t>maka</a:t>
            </a:r>
            <a:r>
              <a:rPr lang="en-US" sz="2000" dirty="0"/>
              <a:t> </a:t>
            </a:r>
            <a:r>
              <a:rPr lang="en-US" sz="2000" dirty="0" err="1"/>
              <a:t>para</a:t>
            </a:r>
            <a:r>
              <a:rPr lang="en-US" sz="2000" dirty="0"/>
              <a:t> </a:t>
            </a:r>
            <a:r>
              <a:rPr lang="en-US" sz="2000" dirty="0" err="1"/>
              <a:t>istri</a:t>
            </a:r>
            <a:r>
              <a:rPr lang="en-US" sz="2000" dirty="0"/>
              <a:t> </a:t>
            </a:r>
            <a:r>
              <a:rPr lang="en-US" sz="2000" dirty="0" err="1"/>
              <a:t>memperoleh</a:t>
            </a:r>
            <a:r>
              <a:rPr lang="en-US" sz="2000" dirty="0"/>
              <a:t> </a:t>
            </a:r>
            <a:r>
              <a:rPr lang="en-US" sz="2000" dirty="0" err="1">
                <a:solidFill>
                  <a:srgbClr val="C00000"/>
                </a:solidFill>
              </a:rPr>
              <a:t>seperdelapan</a:t>
            </a:r>
            <a:r>
              <a:rPr lang="en-US" sz="2000" dirty="0"/>
              <a:t> </a:t>
            </a:r>
            <a:r>
              <a:rPr lang="en-US" sz="2000" dirty="0" err="1"/>
              <a:t>dari</a:t>
            </a:r>
            <a:r>
              <a:rPr lang="en-US" sz="2000" dirty="0"/>
              <a:t> </a:t>
            </a:r>
            <a:r>
              <a:rPr lang="en-US" sz="2000" dirty="0" err="1"/>
              <a:t>harta</a:t>
            </a:r>
            <a:r>
              <a:rPr lang="en-US" sz="2000" dirty="0"/>
              <a:t> yang </a:t>
            </a:r>
            <a:r>
              <a:rPr lang="en-US" sz="2000" dirty="0" err="1"/>
              <a:t>kamu</a:t>
            </a:r>
            <a:r>
              <a:rPr lang="en-US" sz="2000" dirty="0"/>
              <a:t> </a:t>
            </a:r>
            <a:r>
              <a:rPr lang="en-US" sz="2000" dirty="0" err="1"/>
              <a:t>tinggalkan</a:t>
            </a:r>
            <a:r>
              <a:rPr lang="en-US" sz="2000" dirty="0"/>
              <a:t> (</a:t>
            </a:r>
            <a:r>
              <a:rPr lang="en-US" sz="2000" dirty="0" err="1"/>
              <a:t>setelah</a:t>
            </a:r>
            <a:r>
              <a:rPr lang="en-US" sz="2000" dirty="0"/>
              <a:t> </a:t>
            </a:r>
            <a:r>
              <a:rPr lang="en-US" sz="2000" dirty="0" err="1"/>
              <a:t>dipenuhi</a:t>
            </a:r>
            <a:r>
              <a:rPr lang="en-US" sz="2000" dirty="0"/>
              <a:t>) </a:t>
            </a:r>
            <a:r>
              <a:rPr lang="en-US" sz="2000" dirty="0" err="1"/>
              <a:t>wasiat</a:t>
            </a:r>
            <a:r>
              <a:rPr lang="en-US" sz="2000" dirty="0"/>
              <a:t> yang </a:t>
            </a:r>
            <a:r>
              <a:rPr lang="en-US" sz="2000" dirty="0" err="1"/>
              <a:t>kamu</a:t>
            </a:r>
            <a:r>
              <a:rPr lang="en-US" sz="2000" dirty="0"/>
              <a:t> </a:t>
            </a:r>
            <a:r>
              <a:rPr lang="en-US" sz="2000" dirty="0" err="1"/>
              <a:t>buat</a:t>
            </a:r>
            <a:r>
              <a:rPr lang="en-US" sz="2000" dirty="0"/>
              <a:t> </a:t>
            </a:r>
            <a:r>
              <a:rPr lang="en-US" sz="2000" dirty="0" err="1"/>
              <a:t>atau</a:t>
            </a:r>
            <a:r>
              <a:rPr lang="en-US" sz="2000" dirty="0"/>
              <a:t> (</a:t>
            </a:r>
            <a:r>
              <a:rPr lang="en-US" sz="2000" i="1" u="sng" dirty="0" err="1">
                <a:solidFill>
                  <a:srgbClr val="C00000"/>
                </a:solidFill>
              </a:rPr>
              <a:t>dan</a:t>
            </a:r>
            <a:r>
              <a:rPr lang="en-US" sz="2000" i="1" u="sng" dirty="0">
                <a:solidFill>
                  <a:srgbClr val="C00000"/>
                </a:solidFill>
              </a:rPr>
              <a:t> </a:t>
            </a:r>
            <a:r>
              <a:rPr lang="en-US" sz="2000" i="1" u="sng" dirty="0" err="1">
                <a:solidFill>
                  <a:srgbClr val="C00000"/>
                </a:solidFill>
              </a:rPr>
              <a:t>setelah</a:t>
            </a:r>
            <a:r>
              <a:rPr lang="en-US" sz="2000" i="1" u="sng" dirty="0">
                <a:solidFill>
                  <a:srgbClr val="C00000"/>
                </a:solidFill>
              </a:rPr>
              <a:t> </a:t>
            </a:r>
            <a:r>
              <a:rPr lang="en-US" sz="2000" i="1" u="sng" dirty="0" err="1">
                <a:solidFill>
                  <a:srgbClr val="C00000"/>
                </a:solidFill>
              </a:rPr>
              <a:t>dibayar</a:t>
            </a:r>
            <a:r>
              <a:rPr lang="en-US" sz="2000" i="1" u="sng" dirty="0">
                <a:solidFill>
                  <a:srgbClr val="C00000"/>
                </a:solidFill>
              </a:rPr>
              <a:t>) </a:t>
            </a:r>
            <a:r>
              <a:rPr lang="en-US" sz="2000" i="1" u="sng" dirty="0" err="1">
                <a:solidFill>
                  <a:srgbClr val="C00000"/>
                </a:solidFill>
              </a:rPr>
              <a:t>utang-utangmu</a:t>
            </a:r>
            <a:r>
              <a:rPr lang="en-US" sz="2000" i="1" u="sng" dirty="0">
                <a:solidFill>
                  <a:srgbClr val="C00000"/>
                </a:solidFill>
              </a:rPr>
              <a:t>. </a:t>
            </a:r>
            <a:r>
              <a:rPr lang="en-US" sz="2000" dirty="0" err="1"/>
              <a:t>Jika</a:t>
            </a:r>
            <a:r>
              <a:rPr lang="en-US" sz="2000" dirty="0"/>
              <a:t> </a:t>
            </a:r>
            <a:r>
              <a:rPr lang="en-US" sz="2000" dirty="0" err="1"/>
              <a:t>seseorang</a:t>
            </a:r>
            <a:r>
              <a:rPr lang="en-US" sz="2000" dirty="0"/>
              <a:t> </a:t>
            </a:r>
            <a:r>
              <a:rPr lang="en-US" sz="2000" dirty="0" err="1"/>
              <a:t>meninggal</a:t>
            </a:r>
            <a:r>
              <a:rPr lang="en-US" sz="2000" dirty="0"/>
              <a:t>, </a:t>
            </a:r>
            <a:r>
              <a:rPr lang="en-US" sz="2000" dirty="0" err="1"/>
              <a:t>baik</a:t>
            </a:r>
            <a:r>
              <a:rPr lang="en-US" sz="2000" dirty="0"/>
              <a:t> </a:t>
            </a:r>
            <a:r>
              <a:rPr lang="en-US" sz="2000" dirty="0" err="1"/>
              <a:t>laki-laki</a:t>
            </a:r>
            <a:r>
              <a:rPr lang="en-US" sz="2000" dirty="0"/>
              <a:t> </a:t>
            </a:r>
            <a:r>
              <a:rPr lang="en-US" sz="2000" dirty="0" err="1"/>
              <a:t>maupun</a:t>
            </a:r>
            <a:r>
              <a:rPr lang="en-US" sz="2000" dirty="0"/>
              <a:t> </a:t>
            </a:r>
            <a:r>
              <a:rPr lang="en-US" sz="2000" dirty="0" err="1"/>
              <a:t>perempuan</a:t>
            </a:r>
            <a:r>
              <a:rPr lang="en-US" sz="2000" dirty="0"/>
              <a:t> yang </a:t>
            </a:r>
            <a:r>
              <a:rPr lang="en-US" sz="2000" dirty="0" err="1"/>
              <a:t>tidak</a:t>
            </a:r>
            <a:r>
              <a:rPr lang="en-US" sz="2000" dirty="0"/>
              <a:t> </a:t>
            </a:r>
            <a:r>
              <a:rPr lang="en-US" sz="2000" dirty="0" err="1"/>
              <a:t>meninggalkan</a:t>
            </a:r>
            <a:r>
              <a:rPr lang="en-US" sz="2000" dirty="0"/>
              <a:t> ayah </a:t>
            </a:r>
            <a:r>
              <a:rPr lang="en-US" sz="2000" dirty="0" err="1"/>
              <a:t>dan</a:t>
            </a:r>
            <a:r>
              <a:rPr lang="en-US" sz="2000" dirty="0"/>
              <a:t> </a:t>
            </a:r>
            <a:r>
              <a:rPr lang="en-US" sz="2000" dirty="0" err="1"/>
              <a:t>tidak</a:t>
            </a:r>
            <a:r>
              <a:rPr lang="en-US" sz="2000" dirty="0"/>
              <a:t> </a:t>
            </a:r>
            <a:r>
              <a:rPr lang="en-US" sz="2000" dirty="0" err="1"/>
              <a:t>meninggalkan</a:t>
            </a:r>
            <a:r>
              <a:rPr lang="en-US" sz="2000" dirty="0"/>
              <a:t> </a:t>
            </a:r>
            <a:r>
              <a:rPr lang="en-US" sz="2000" dirty="0" err="1"/>
              <a:t>anak</a:t>
            </a:r>
            <a:r>
              <a:rPr lang="en-US" sz="2000" dirty="0"/>
              <a:t>, </a:t>
            </a:r>
            <a:r>
              <a:rPr lang="en-US" sz="2000" dirty="0" err="1"/>
              <a:t>tetapi</a:t>
            </a:r>
            <a:r>
              <a:rPr lang="en-US" sz="2000" dirty="0"/>
              <a:t> </a:t>
            </a:r>
            <a:r>
              <a:rPr lang="en-US" sz="2000" dirty="0" err="1"/>
              <a:t>mempunyai</a:t>
            </a:r>
            <a:r>
              <a:rPr lang="en-US" sz="2000" dirty="0"/>
              <a:t> </a:t>
            </a:r>
            <a:r>
              <a:rPr lang="en-US" sz="2000" dirty="0" err="1"/>
              <a:t>seorang</a:t>
            </a:r>
            <a:r>
              <a:rPr lang="en-US" sz="2000" dirty="0"/>
              <a:t> </a:t>
            </a:r>
            <a:r>
              <a:rPr lang="en-US" sz="2000" dirty="0" err="1"/>
              <a:t>saudara</a:t>
            </a:r>
            <a:r>
              <a:rPr lang="en-US" sz="2000" dirty="0"/>
              <a:t> </a:t>
            </a:r>
            <a:r>
              <a:rPr lang="en-US" sz="2000" dirty="0" err="1"/>
              <a:t>laki-laki</a:t>
            </a:r>
            <a:r>
              <a:rPr lang="en-US" sz="2000" dirty="0"/>
              <a:t> (</a:t>
            </a:r>
            <a:r>
              <a:rPr lang="en-US" sz="2000" dirty="0" err="1"/>
              <a:t>seibu</a:t>
            </a:r>
            <a:r>
              <a:rPr lang="en-US" sz="2000" dirty="0"/>
              <a:t>) </a:t>
            </a:r>
            <a:r>
              <a:rPr lang="en-US" sz="2000" dirty="0" err="1"/>
              <a:t>atau</a:t>
            </a:r>
            <a:r>
              <a:rPr lang="en-US" sz="2000" dirty="0"/>
              <a:t> </a:t>
            </a:r>
            <a:r>
              <a:rPr lang="en-US" sz="2000" dirty="0" err="1"/>
              <a:t>seorang</a:t>
            </a:r>
            <a:r>
              <a:rPr lang="en-US" sz="2000" dirty="0"/>
              <a:t> </a:t>
            </a:r>
            <a:r>
              <a:rPr lang="en-US" sz="2000" dirty="0" err="1"/>
              <a:t>saudara</a:t>
            </a:r>
            <a:r>
              <a:rPr lang="en-US" sz="2000" dirty="0"/>
              <a:t> </a:t>
            </a:r>
            <a:r>
              <a:rPr lang="en-US" sz="2000" dirty="0" err="1"/>
              <a:t>perempuan</a:t>
            </a:r>
            <a:r>
              <a:rPr lang="en-US" sz="2000" dirty="0"/>
              <a:t> (</a:t>
            </a:r>
            <a:r>
              <a:rPr lang="en-US" sz="2000" dirty="0" err="1"/>
              <a:t>seibu</a:t>
            </a:r>
            <a:r>
              <a:rPr lang="en-US" sz="2000" dirty="0"/>
              <a:t>), </a:t>
            </a:r>
            <a:r>
              <a:rPr lang="en-US" sz="2000" dirty="0" err="1"/>
              <a:t>maka</a:t>
            </a:r>
            <a:r>
              <a:rPr lang="en-US" sz="2000" dirty="0"/>
              <a:t> </a:t>
            </a:r>
            <a:r>
              <a:rPr lang="en-US" sz="2000" dirty="0" err="1"/>
              <a:t>bagi</a:t>
            </a:r>
            <a:r>
              <a:rPr lang="en-US" sz="2000" dirty="0"/>
              <a:t> </a:t>
            </a:r>
            <a:r>
              <a:rPr lang="en-US" sz="2000" dirty="0" err="1"/>
              <a:t>masing-masing</a:t>
            </a:r>
            <a:r>
              <a:rPr lang="en-US" sz="2000" dirty="0"/>
              <a:t> </a:t>
            </a:r>
            <a:r>
              <a:rPr lang="en-US" sz="2000" dirty="0" err="1"/>
              <a:t>dari</a:t>
            </a:r>
            <a:r>
              <a:rPr lang="en-US" sz="2000" dirty="0"/>
              <a:t> </a:t>
            </a:r>
            <a:r>
              <a:rPr lang="en-US" sz="2000" dirty="0" err="1"/>
              <a:t>kedua</a:t>
            </a:r>
            <a:r>
              <a:rPr lang="en-US" sz="2000" dirty="0"/>
              <a:t> </a:t>
            </a:r>
            <a:r>
              <a:rPr lang="en-US" sz="2000" dirty="0" err="1"/>
              <a:t>jenis</a:t>
            </a:r>
            <a:r>
              <a:rPr lang="en-US" sz="2000" dirty="0"/>
              <a:t> </a:t>
            </a:r>
            <a:r>
              <a:rPr lang="en-US" sz="2000" dirty="0" err="1"/>
              <a:t>saudara</a:t>
            </a:r>
            <a:r>
              <a:rPr lang="en-US" sz="2000" dirty="0"/>
              <a:t> </a:t>
            </a:r>
            <a:r>
              <a:rPr lang="en-US" sz="2000" dirty="0" err="1"/>
              <a:t>itu</a:t>
            </a:r>
            <a:r>
              <a:rPr lang="en-US" sz="2000" dirty="0"/>
              <a:t> </a:t>
            </a:r>
            <a:r>
              <a:rPr lang="en-US" sz="2000" dirty="0" err="1"/>
              <a:t>seperenam</a:t>
            </a:r>
            <a:r>
              <a:rPr lang="en-US" sz="2000" dirty="0"/>
              <a:t> </a:t>
            </a:r>
            <a:r>
              <a:rPr lang="en-US" sz="2000" dirty="0" err="1"/>
              <a:t>harta</a:t>
            </a:r>
            <a:r>
              <a:rPr lang="en-US" sz="2000" dirty="0"/>
              <a:t>. </a:t>
            </a:r>
            <a:r>
              <a:rPr lang="en-US" sz="2000" dirty="0" err="1"/>
              <a:t>Tetapi</a:t>
            </a:r>
            <a:r>
              <a:rPr lang="en-US" sz="2000" dirty="0"/>
              <a:t> </a:t>
            </a:r>
            <a:r>
              <a:rPr lang="en-US" sz="2000" dirty="0" err="1"/>
              <a:t>jika</a:t>
            </a:r>
            <a:r>
              <a:rPr lang="en-US" sz="2000" dirty="0"/>
              <a:t> </a:t>
            </a:r>
            <a:r>
              <a:rPr lang="en-US" sz="2000" dirty="0" err="1"/>
              <a:t>saudara-saudara</a:t>
            </a:r>
            <a:r>
              <a:rPr lang="en-US" sz="2000" dirty="0"/>
              <a:t> </a:t>
            </a:r>
            <a:r>
              <a:rPr lang="en-US" sz="2000" dirty="0" err="1"/>
              <a:t>seibu</a:t>
            </a:r>
            <a:r>
              <a:rPr lang="en-US" sz="2000" dirty="0"/>
              <a:t> </a:t>
            </a:r>
            <a:r>
              <a:rPr lang="en-US" sz="2000" dirty="0" err="1"/>
              <a:t>itu</a:t>
            </a:r>
            <a:r>
              <a:rPr lang="en-US" sz="2000" dirty="0"/>
              <a:t> </a:t>
            </a:r>
            <a:r>
              <a:rPr lang="en-US" sz="2000" dirty="0" err="1"/>
              <a:t>lebih</a:t>
            </a:r>
            <a:r>
              <a:rPr lang="en-US" sz="2000" dirty="0"/>
              <a:t> </a:t>
            </a:r>
            <a:r>
              <a:rPr lang="en-US" sz="2000" dirty="0" err="1"/>
              <a:t>dari</a:t>
            </a:r>
            <a:r>
              <a:rPr lang="en-US" sz="2000" dirty="0"/>
              <a:t> </a:t>
            </a:r>
            <a:r>
              <a:rPr lang="en-US" sz="2000" dirty="0" err="1"/>
              <a:t>seorang</a:t>
            </a:r>
            <a:r>
              <a:rPr lang="en-US" sz="2000" dirty="0"/>
              <a:t>, </a:t>
            </a:r>
            <a:r>
              <a:rPr lang="en-US" sz="2000" dirty="0" err="1"/>
              <a:t>maka</a:t>
            </a:r>
            <a:r>
              <a:rPr lang="en-US" sz="2000" dirty="0"/>
              <a:t> </a:t>
            </a:r>
            <a:r>
              <a:rPr lang="en-US" sz="2000" dirty="0" err="1"/>
              <a:t>mereka</a:t>
            </a:r>
            <a:r>
              <a:rPr lang="en-US" sz="2000" dirty="0"/>
              <a:t> </a:t>
            </a:r>
            <a:r>
              <a:rPr lang="en-US" sz="2000" dirty="0" err="1"/>
              <a:t>bersama-sama</a:t>
            </a:r>
            <a:r>
              <a:rPr lang="en-US" sz="2000" dirty="0"/>
              <a:t> </a:t>
            </a:r>
            <a:r>
              <a:rPr lang="en-US" sz="2000" dirty="0" err="1"/>
              <a:t>dalam</a:t>
            </a:r>
            <a:r>
              <a:rPr lang="en-US" sz="2000" dirty="0"/>
              <a:t> </a:t>
            </a:r>
            <a:r>
              <a:rPr lang="en-US" sz="2000" dirty="0" err="1"/>
              <a:t>bagian</a:t>
            </a:r>
            <a:r>
              <a:rPr lang="en-US" sz="2000" dirty="0"/>
              <a:t> yang </a:t>
            </a:r>
            <a:r>
              <a:rPr lang="en-US" sz="2000" dirty="0" err="1"/>
              <a:t>sepertiga</a:t>
            </a:r>
            <a:r>
              <a:rPr lang="en-US" sz="2000" dirty="0"/>
              <a:t> </a:t>
            </a:r>
            <a:r>
              <a:rPr lang="en-US" sz="2000" dirty="0" err="1"/>
              <a:t>itu</a:t>
            </a:r>
            <a:r>
              <a:rPr lang="en-US" sz="2000" dirty="0"/>
              <a:t>, </a:t>
            </a:r>
            <a:r>
              <a:rPr lang="en-US" sz="2000" dirty="0" err="1"/>
              <a:t>setelah</a:t>
            </a:r>
            <a:r>
              <a:rPr lang="en-US" sz="2000" dirty="0"/>
              <a:t> (</a:t>
            </a:r>
            <a:r>
              <a:rPr lang="en-US" sz="2000" dirty="0" err="1"/>
              <a:t>dipenuhi</a:t>
            </a:r>
            <a:r>
              <a:rPr lang="en-US" sz="2000" dirty="0"/>
              <a:t> </a:t>
            </a:r>
            <a:r>
              <a:rPr lang="en-US" sz="2000" dirty="0" err="1"/>
              <a:t>wasiat</a:t>
            </a:r>
            <a:r>
              <a:rPr lang="en-US" sz="2000" dirty="0"/>
              <a:t>) yang </a:t>
            </a:r>
            <a:r>
              <a:rPr lang="en-US" sz="2000" dirty="0" err="1"/>
              <a:t>dibuatnya</a:t>
            </a:r>
            <a:r>
              <a:rPr lang="en-US" sz="2000" dirty="0"/>
              <a:t> </a:t>
            </a:r>
            <a:r>
              <a:rPr lang="en-US" sz="2000" dirty="0" err="1"/>
              <a:t>atau</a:t>
            </a:r>
            <a:r>
              <a:rPr lang="en-US" sz="2000" dirty="0"/>
              <a:t> (</a:t>
            </a:r>
            <a:r>
              <a:rPr lang="en-US" sz="2000" dirty="0" err="1"/>
              <a:t>dan</a:t>
            </a:r>
            <a:r>
              <a:rPr lang="en-US" sz="2000" dirty="0"/>
              <a:t> </a:t>
            </a:r>
            <a:r>
              <a:rPr lang="en-US" sz="2000" dirty="0" err="1"/>
              <a:t>setelah</a:t>
            </a:r>
            <a:r>
              <a:rPr lang="en-US" sz="2000" dirty="0"/>
              <a:t> </a:t>
            </a:r>
            <a:r>
              <a:rPr lang="en-US" sz="2000" dirty="0" err="1"/>
              <a:t>dibayar</a:t>
            </a:r>
            <a:r>
              <a:rPr lang="en-US" sz="2000" dirty="0"/>
              <a:t>) </a:t>
            </a:r>
            <a:r>
              <a:rPr lang="en-US" sz="2000" dirty="0" err="1"/>
              <a:t>utangnya</a:t>
            </a:r>
            <a:r>
              <a:rPr lang="en-US" sz="2000" dirty="0"/>
              <a:t> </a:t>
            </a:r>
            <a:r>
              <a:rPr lang="en-US" sz="2000" dirty="0" err="1"/>
              <a:t>dengan</a:t>
            </a:r>
            <a:r>
              <a:rPr lang="en-US" sz="2000" dirty="0"/>
              <a:t> </a:t>
            </a:r>
            <a:r>
              <a:rPr lang="en-US" sz="2000" dirty="0" err="1"/>
              <a:t>tidak</a:t>
            </a:r>
            <a:r>
              <a:rPr lang="en-US" sz="2000" dirty="0"/>
              <a:t> </a:t>
            </a:r>
            <a:r>
              <a:rPr lang="en-US" sz="2000" dirty="0" err="1"/>
              <a:t>menyusahkan</a:t>
            </a:r>
            <a:r>
              <a:rPr lang="en-US" sz="2000" dirty="0"/>
              <a:t> (</a:t>
            </a:r>
            <a:r>
              <a:rPr lang="en-US" sz="2000" dirty="0" err="1"/>
              <a:t>kepada</a:t>
            </a:r>
            <a:r>
              <a:rPr lang="en-US" sz="2000" dirty="0"/>
              <a:t> </a:t>
            </a:r>
            <a:r>
              <a:rPr lang="en-US" sz="2000" dirty="0" err="1"/>
              <a:t>ahli</a:t>
            </a:r>
            <a:r>
              <a:rPr lang="en-US" sz="2000" dirty="0"/>
              <a:t> </a:t>
            </a:r>
            <a:r>
              <a:rPr lang="en-US" sz="2000" dirty="0" err="1"/>
              <a:t>waris</a:t>
            </a:r>
            <a:r>
              <a:rPr lang="en-US" sz="2000" dirty="0"/>
              <a:t>). </a:t>
            </a:r>
            <a:r>
              <a:rPr lang="en-US" sz="2000" dirty="0" err="1"/>
              <a:t>Demikianlah</a:t>
            </a:r>
            <a:r>
              <a:rPr lang="en-US" sz="2000" dirty="0"/>
              <a:t> </a:t>
            </a:r>
            <a:r>
              <a:rPr lang="en-US" sz="2000" dirty="0" err="1"/>
              <a:t>ketentuan</a:t>
            </a:r>
            <a:r>
              <a:rPr lang="en-US" sz="2000" dirty="0"/>
              <a:t> Allah. Allah </a:t>
            </a:r>
            <a:r>
              <a:rPr lang="en-US" sz="2000" dirty="0" err="1"/>
              <a:t>Maha</a:t>
            </a:r>
            <a:r>
              <a:rPr lang="en-US" sz="2000" dirty="0"/>
              <a:t> </a:t>
            </a:r>
            <a:r>
              <a:rPr lang="en-US" sz="2000" dirty="0" err="1"/>
              <a:t>Mengetahui</a:t>
            </a:r>
            <a:r>
              <a:rPr lang="en-US" sz="2000" dirty="0"/>
              <a:t>, </a:t>
            </a:r>
            <a:r>
              <a:rPr lang="en-US" sz="2000" dirty="0" err="1"/>
              <a:t>Maha</a:t>
            </a:r>
            <a:r>
              <a:rPr lang="en-US" sz="2000" dirty="0"/>
              <a:t> </a:t>
            </a:r>
            <a:r>
              <a:rPr lang="en-US" sz="2000" dirty="0" err="1"/>
              <a:t>Penyantun</a:t>
            </a:r>
            <a:r>
              <a:rPr lang="en-US" sz="20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89780" y="533400"/>
            <a:ext cx="5779135" cy="645160"/>
          </a:xfrm>
          <a:prstGeom prst="rect">
            <a:avLst/>
          </a:prstGeom>
          <a:noFill/>
        </p:spPr>
        <p:txBody>
          <a:bodyPr wrap="none" rtlCol="0">
            <a:spAutoFit/>
          </a:bodyPr>
          <a:lstStyle/>
          <a:p>
            <a:pPr algn="ct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Al Qur’an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Surat</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Nisa</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 13</a:t>
            </a:r>
          </a:p>
        </p:txBody>
      </p:sp>
      <p:sp>
        <p:nvSpPr>
          <p:cNvPr id="5" name="TextBox 4"/>
          <p:cNvSpPr txBox="1"/>
          <p:nvPr/>
        </p:nvSpPr>
        <p:spPr>
          <a:xfrm>
            <a:off x="838200" y="1447800"/>
            <a:ext cx="7543800" cy="1568450"/>
          </a:xfrm>
          <a:prstGeom prst="rect">
            <a:avLst/>
          </a:prstGeom>
          <a:noFill/>
        </p:spPr>
        <p:txBody>
          <a:bodyPr wrap="square" rtlCol="0">
            <a:spAutoFit/>
          </a:bodyPr>
          <a:lstStyle/>
          <a:p>
            <a:pPr algn="ctr">
              <a:lnSpc>
                <a:spcPct val="150000"/>
              </a:lnSpc>
            </a:pPr>
            <a:r>
              <a:rPr lang="ar-SA" sz="3200" dirty="0"/>
              <a:t>تِلْكَ حُدُوْدُ اللّٰهِ ۗ وَمَنْ يُّطِعِ اللّٰهَ وَرَسُوْلَهٗ يُدْخِلْهُ جَنّٰتٍ تَجْرِيْ مِنْ تَحْتِهَا الْاَنْهٰرُ خٰلِدِيْنَ فِيْهَا ۗ وَذٰلِكَ الْفَوْزُ الْعَظِيْمُ</a:t>
            </a:r>
          </a:p>
        </p:txBody>
      </p:sp>
      <p:sp>
        <p:nvSpPr>
          <p:cNvPr id="6" name="TextBox 5"/>
          <p:cNvSpPr txBox="1"/>
          <p:nvPr/>
        </p:nvSpPr>
        <p:spPr>
          <a:xfrm>
            <a:off x="838200" y="3276600"/>
            <a:ext cx="7543800" cy="2677656"/>
          </a:xfrm>
          <a:prstGeom prst="rect">
            <a:avLst/>
          </a:prstGeom>
          <a:noFill/>
        </p:spPr>
        <p:txBody>
          <a:bodyPr wrap="square" rtlCol="0">
            <a:spAutoFit/>
          </a:bodyPr>
          <a:lstStyle/>
          <a:p>
            <a:pPr algn="ctr"/>
            <a:r>
              <a:rPr lang="en-US" sz="2800" dirty="0" err="1"/>
              <a:t>Itulah</a:t>
            </a:r>
            <a:r>
              <a:rPr lang="en-US" sz="2800" dirty="0"/>
              <a:t> </a:t>
            </a:r>
            <a:r>
              <a:rPr lang="en-US" sz="2800" dirty="0" err="1">
                <a:solidFill>
                  <a:srgbClr val="C00000"/>
                </a:solidFill>
              </a:rPr>
              <a:t>batas-batas</a:t>
            </a:r>
            <a:r>
              <a:rPr lang="en-US" sz="2800" dirty="0">
                <a:solidFill>
                  <a:srgbClr val="C00000"/>
                </a:solidFill>
              </a:rPr>
              <a:t> </a:t>
            </a:r>
            <a:r>
              <a:rPr lang="en-US" sz="2800" dirty="0"/>
              <a:t>(</a:t>
            </a:r>
            <a:r>
              <a:rPr lang="en-US" sz="2800" dirty="0" err="1"/>
              <a:t>hukum</a:t>
            </a:r>
            <a:r>
              <a:rPr lang="en-US" sz="2800" dirty="0"/>
              <a:t>) Allah. </a:t>
            </a:r>
            <a:r>
              <a:rPr lang="en-US" sz="2800" dirty="0" err="1"/>
              <a:t>Barangsiapa</a:t>
            </a:r>
            <a:r>
              <a:rPr lang="en-US" sz="2800" dirty="0"/>
              <a:t> </a:t>
            </a:r>
            <a:r>
              <a:rPr lang="en-US" sz="2800" dirty="0" err="1">
                <a:solidFill>
                  <a:srgbClr val="C00000"/>
                </a:solidFill>
              </a:rPr>
              <a:t>taat</a:t>
            </a:r>
            <a:r>
              <a:rPr lang="en-US" sz="2800" dirty="0">
                <a:solidFill>
                  <a:srgbClr val="C00000"/>
                </a:solidFill>
              </a:rPr>
              <a:t> </a:t>
            </a:r>
            <a:r>
              <a:rPr lang="en-US" sz="2800" dirty="0" err="1">
                <a:solidFill>
                  <a:srgbClr val="C00000"/>
                </a:solidFill>
              </a:rPr>
              <a:t>kepada</a:t>
            </a:r>
            <a:r>
              <a:rPr lang="en-US" sz="2800" dirty="0">
                <a:solidFill>
                  <a:srgbClr val="C00000"/>
                </a:solidFill>
              </a:rPr>
              <a:t> Allah </a:t>
            </a:r>
            <a:r>
              <a:rPr lang="en-US" sz="2800" dirty="0" err="1"/>
              <a:t>dan</a:t>
            </a:r>
            <a:r>
              <a:rPr lang="en-US" sz="2800" dirty="0"/>
              <a:t> </a:t>
            </a:r>
            <a:r>
              <a:rPr lang="en-US" sz="2800" dirty="0" err="1">
                <a:solidFill>
                  <a:srgbClr val="C00000"/>
                </a:solidFill>
              </a:rPr>
              <a:t>Rasul-Nya</a:t>
            </a:r>
            <a:r>
              <a:rPr lang="en-US" sz="2800" dirty="0"/>
              <a:t>, </a:t>
            </a:r>
            <a:r>
              <a:rPr lang="en-US" sz="2800" dirty="0" err="1"/>
              <a:t>Dia</a:t>
            </a:r>
            <a:r>
              <a:rPr lang="en-US" sz="2800" dirty="0"/>
              <a:t> </a:t>
            </a:r>
            <a:r>
              <a:rPr lang="en-US" sz="2800" dirty="0" err="1"/>
              <a:t>akan</a:t>
            </a:r>
            <a:r>
              <a:rPr lang="en-US" sz="2800" dirty="0"/>
              <a:t> </a:t>
            </a:r>
            <a:r>
              <a:rPr lang="en-US" sz="2800" dirty="0" err="1">
                <a:solidFill>
                  <a:srgbClr val="C00000"/>
                </a:solidFill>
              </a:rPr>
              <a:t>memasukkannya</a:t>
            </a:r>
            <a:r>
              <a:rPr lang="en-US" sz="2800" dirty="0">
                <a:solidFill>
                  <a:srgbClr val="C00000"/>
                </a:solidFill>
              </a:rPr>
              <a:t> </a:t>
            </a:r>
            <a:r>
              <a:rPr lang="en-US" sz="2800" dirty="0" err="1">
                <a:solidFill>
                  <a:srgbClr val="C00000"/>
                </a:solidFill>
              </a:rPr>
              <a:t>ke</a:t>
            </a:r>
            <a:r>
              <a:rPr lang="en-US" sz="2800" dirty="0">
                <a:solidFill>
                  <a:srgbClr val="C00000"/>
                </a:solidFill>
              </a:rPr>
              <a:t> </a:t>
            </a:r>
            <a:r>
              <a:rPr lang="en-US" sz="2800" dirty="0" err="1">
                <a:solidFill>
                  <a:srgbClr val="C00000"/>
                </a:solidFill>
              </a:rPr>
              <a:t>dalam</a:t>
            </a:r>
            <a:r>
              <a:rPr lang="en-US" sz="2800" dirty="0">
                <a:solidFill>
                  <a:srgbClr val="C00000"/>
                </a:solidFill>
              </a:rPr>
              <a:t> </a:t>
            </a:r>
            <a:r>
              <a:rPr lang="en-US" sz="2800" dirty="0" err="1">
                <a:solidFill>
                  <a:srgbClr val="C00000"/>
                </a:solidFill>
              </a:rPr>
              <a:t>surga-surga</a:t>
            </a:r>
            <a:r>
              <a:rPr lang="en-US" sz="2800" dirty="0">
                <a:solidFill>
                  <a:srgbClr val="C00000"/>
                </a:solidFill>
              </a:rPr>
              <a:t> </a:t>
            </a:r>
            <a:r>
              <a:rPr lang="en-US" sz="2800" dirty="0"/>
              <a:t>yang </a:t>
            </a:r>
            <a:r>
              <a:rPr lang="en-US" sz="2800" dirty="0" err="1"/>
              <a:t>mengalir</a:t>
            </a:r>
            <a:r>
              <a:rPr lang="en-US" sz="2800" dirty="0"/>
              <a:t> di </a:t>
            </a:r>
            <a:r>
              <a:rPr lang="en-US" sz="2800" dirty="0" err="1"/>
              <a:t>bawahnya</a:t>
            </a:r>
            <a:r>
              <a:rPr lang="en-US" sz="2800" dirty="0"/>
              <a:t> </a:t>
            </a:r>
            <a:r>
              <a:rPr lang="en-US" sz="2800" dirty="0" err="1"/>
              <a:t>sungai-sungai</a:t>
            </a:r>
            <a:r>
              <a:rPr lang="en-US" sz="2800" dirty="0"/>
              <a:t>, </a:t>
            </a:r>
            <a:r>
              <a:rPr lang="en-US" sz="2800" dirty="0" err="1"/>
              <a:t>mereka</a:t>
            </a:r>
            <a:r>
              <a:rPr lang="en-US" sz="2800" dirty="0"/>
              <a:t> </a:t>
            </a:r>
            <a:r>
              <a:rPr lang="en-US" sz="2800" dirty="0" err="1"/>
              <a:t>kekal</a:t>
            </a:r>
            <a:r>
              <a:rPr lang="en-US" sz="2800" dirty="0"/>
              <a:t> di </a:t>
            </a:r>
            <a:r>
              <a:rPr lang="en-US" sz="2800" dirty="0" err="1"/>
              <a:t>dalamnya</a:t>
            </a:r>
            <a:r>
              <a:rPr lang="en-US" sz="2800" dirty="0"/>
              <a:t>. Dan </a:t>
            </a:r>
            <a:r>
              <a:rPr lang="en-US" sz="2800" dirty="0" err="1"/>
              <a:t>itulah</a:t>
            </a:r>
            <a:r>
              <a:rPr lang="en-US" sz="2800" dirty="0"/>
              <a:t> </a:t>
            </a:r>
            <a:r>
              <a:rPr lang="en-US" sz="2800" dirty="0" err="1"/>
              <a:t>kemenangan</a:t>
            </a:r>
            <a:r>
              <a:rPr lang="en-US" sz="2800" dirty="0"/>
              <a:t> yang </a:t>
            </a:r>
            <a:r>
              <a:rPr lang="en-US" sz="2800" dirty="0" err="1"/>
              <a:t>agung</a:t>
            </a:r>
            <a:r>
              <a:rPr lang="en-US" sz="2800" dirty="0"/>
              <a:t>.</a:t>
            </a:r>
            <a:endParaRPr lang="en-US" sz="2800" dirty="0">
              <a:solidFill>
                <a:schemeClr val="tx1">
                  <a:lumMod val="95000"/>
                  <a:lumOff val="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ircle(in)">
                                      <p:cBhvr>
                                        <p:cTn id="1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62475" y="533400"/>
            <a:ext cx="5797550" cy="645160"/>
          </a:xfrm>
          <a:prstGeom prst="rect">
            <a:avLst/>
          </a:prstGeom>
          <a:noFill/>
        </p:spPr>
        <p:txBody>
          <a:bodyPr wrap="none" rtlCol="0">
            <a:spAutoFit/>
          </a:bodyPr>
          <a:lstStyle/>
          <a:p>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Al Qur’an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Surat</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An </a:t>
            </a:r>
            <a:r>
              <a:rPr lang="en-US"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Nisa</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ahnschrift" panose="020B0502040204020203" pitchFamily="34" charset="0"/>
              </a:rPr>
              <a:t> : 14</a:t>
            </a:r>
          </a:p>
        </p:txBody>
      </p:sp>
      <p:sp>
        <p:nvSpPr>
          <p:cNvPr id="5" name="TextBox 4"/>
          <p:cNvSpPr txBox="1"/>
          <p:nvPr/>
        </p:nvSpPr>
        <p:spPr>
          <a:xfrm>
            <a:off x="838200" y="1600200"/>
            <a:ext cx="7543800" cy="1568450"/>
          </a:xfrm>
          <a:prstGeom prst="rect">
            <a:avLst/>
          </a:prstGeom>
          <a:noFill/>
        </p:spPr>
        <p:txBody>
          <a:bodyPr wrap="square" rtlCol="0">
            <a:spAutoFit/>
          </a:bodyPr>
          <a:lstStyle/>
          <a:p>
            <a:pPr algn="ctr">
              <a:lnSpc>
                <a:spcPct val="150000"/>
              </a:lnSpc>
            </a:pPr>
            <a:r>
              <a:rPr lang="ar-SA" sz="3200" dirty="0"/>
              <a:t>وَمَنْ يَّعْصِ اللّٰهَ وَرَسُوْلَهٗ وَيَتَعَدَّ حُدُوْدَهٗ يُدْخِلْهُ نَارًا خَالِدًا فِيْهَاۖ وَلَهٗ عَذَابٌ مُّهِيْنٌ ࣖ</a:t>
            </a:r>
          </a:p>
        </p:txBody>
      </p:sp>
      <p:sp>
        <p:nvSpPr>
          <p:cNvPr id="6" name="TextBox 5"/>
          <p:cNvSpPr txBox="1"/>
          <p:nvPr/>
        </p:nvSpPr>
        <p:spPr>
          <a:xfrm>
            <a:off x="838200" y="3276600"/>
            <a:ext cx="7543800" cy="2246769"/>
          </a:xfrm>
          <a:prstGeom prst="rect">
            <a:avLst/>
          </a:prstGeom>
          <a:noFill/>
        </p:spPr>
        <p:txBody>
          <a:bodyPr wrap="square" rtlCol="0">
            <a:spAutoFit/>
          </a:bodyPr>
          <a:lstStyle/>
          <a:p>
            <a:pPr algn="ctr"/>
            <a:r>
              <a:rPr lang="en-US" sz="2800" dirty="0"/>
              <a:t>Dan </a:t>
            </a:r>
            <a:r>
              <a:rPr lang="en-US" sz="2800" dirty="0" err="1"/>
              <a:t>barangsiapa</a:t>
            </a:r>
            <a:r>
              <a:rPr lang="en-US" sz="2800" dirty="0"/>
              <a:t> </a:t>
            </a:r>
            <a:r>
              <a:rPr lang="en-US" sz="2800" dirty="0" err="1">
                <a:solidFill>
                  <a:srgbClr val="C00000"/>
                </a:solidFill>
              </a:rPr>
              <a:t>mendurhakai</a:t>
            </a:r>
            <a:r>
              <a:rPr lang="en-US" sz="2800" dirty="0">
                <a:solidFill>
                  <a:srgbClr val="C00000"/>
                </a:solidFill>
              </a:rPr>
              <a:t> Allah </a:t>
            </a:r>
            <a:r>
              <a:rPr lang="en-US" sz="2800" dirty="0" err="1">
                <a:solidFill>
                  <a:srgbClr val="C00000"/>
                </a:solidFill>
              </a:rPr>
              <a:t>dan</a:t>
            </a:r>
            <a:r>
              <a:rPr lang="en-US" sz="2800" dirty="0">
                <a:solidFill>
                  <a:srgbClr val="C00000"/>
                </a:solidFill>
              </a:rPr>
              <a:t> </a:t>
            </a:r>
            <a:r>
              <a:rPr lang="en-US" sz="2800" dirty="0" err="1">
                <a:solidFill>
                  <a:srgbClr val="C00000"/>
                </a:solidFill>
              </a:rPr>
              <a:t>Rasul-Nya</a:t>
            </a:r>
            <a:r>
              <a:rPr lang="en-US" sz="2800" dirty="0">
                <a:solidFill>
                  <a:srgbClr val="C00000"/>
                </a:solidFill>
              </a:rPr>
              <a:t> </a:t>
            </a:r>
            <a:r>
              <a:rPr lang="en-US" sz="2800" dirty="0" err="1">
                <a:solidFill>
                  <a:srgbClr val="C00000"/>
                </a:solidFill>
              </a:rPr>
              <a:t>dan</a:t>
            </a:r>
            <a:r>
              <a:rPr lang="en-US" sz="2800" dirty="0">
                <a:solidFill>
                  <a:srgbClr val="C00000"/>
                </a:solidFill>
              </a:rPr>
              <a:t> </a:t>
            </a:r>
            <a:r>
              <a:rPr lang="en-US" sz="2800" dirty="0" err="1">
                <a:solidFill>
                  <a:srgbClr val="C00000"/>
                </a:solidFill>
              </a:rPr>
              <a:t>melanggar</a:t>
            </a:r>
            <a:r>
              <a:rPr lang="en-US" sz="2800" dirty="0">
                <a:solidFill>
                  <a:srgbClr val="C00000"/>
                </a:solidFill>
              </a:rPr>
              <a:t> </a:t>
            </a:r>
            <a:r>
              <a:rPr lang="en-US" sz="2800" dirty="0" err="1">
                <a:solidFill>
                  <a:srgbClr val="C00000"/>
                </a:solidFill>
              </a:rPr>
              <a:t>batas-batas</a:t>
            </a:r>
            <a:r>
              <a:rPr lang="en-US" sz="2800" dirty="0">
                <a:solidFill>
                  <a:srgbClr val="C00000"/>
                </a:solidFill>
              </a:rPr>
              <a:t> </a:t>
            </a:r>
            <a:r>
              <a:rPr lang="en-US" sz="2800" dirty="0" err="1">
                <a:solidFill>
                  <a:srgbClr val="C00000"/>
                </a:solidFill>
              </a:rPr>
              <a:t>hukum-Nya</a:t>
            </a:r>
            <a:r>
              <a:rPr lang="en-US" sz="2800" dirty="0">
                <a:solidFill>
                  <a:srgbClr val="C00000"/>
                </a:solidFill>
              </a:rPr>
              <a:t>, </a:t>
            </a:r>
            <a:r>
              <a:rPr lang="en-US" sz="2800" dirty="0" err="1"/>
              <a:t>niscaya</a:t>
            </a:r>
            <a:r>
              <a:rPr lang="en-US" sz="2800" dirty="0"/>
              <a:t> Allah </a:t>
            </a:r>
            <a:r>
              <a:rPr lang="en-US" sz="2800" dirty="0" err="1">
                <a:solidFill>
                  <a:srgbClr val="C00000"/>
                </a:solidFill>
              </a:rPr>
              <a:t>memasukkannya</a:t>
            </a:r>
            <a:r>
              <a:rPr lang="en-US" sz="2800" dirty="0">
                <a:solidFill>
                  <a:srgbClr val="C00000"/>
                </a:solidFill>
              </a:rPr>
              <a:t> </a:t>
            </a:r>
            <a:r>
              <a:rPr lang="en-US" sz="2800" dirty="0" err="1">
                <a:solidFill>
                  <a:srgbClr val="C00000"/>
                </a:solidFill>
              </a:rPr>
              <a:t>ke</a:t>
            </a:r>
            <a:r>
              <a:rPr lang="en-US" sz="2800" dirty="0">
                <a:solidFill>
                  <a:srgbClr val="C00000"/>
                </a:solidFill>
              </a:rPr>
              <a:t> </a:t>
            </a:r>
            <a:r>
              <a:rPr lang="en-US" sz="2800" dirty="0" err="1">
                <a:solidFill>
                  <a:srgbClr val="C00000"/>
                </a:solidFill>
              </a:rPr>
              <a:t>dalam</a:t>
            </a:r>
            <a:r>
              <a:rPr lang="en-US" sz="2800" dirty="0">
                <a:solidFill>
                  <a:srgbClr val="C00000"/>
                </a:solidFill>
              </a:rPr>
              <a:t> </a:t>
            </a:r>
            <a:r>
              <a:rPr lang="en-US" sz="2800" dirty="0" err="1">
                <a:solidFill>
                  <a:srgbClr val="C00000"/>
                </a:solidFill>
              </a:rPr>
              <a:t>api</a:t>
            </a:r>
            <a:r>
              <a:rPr lang="en-US" sz="2800" dirty="0">
                <a:solidFill>
                  <a:srgbClr val="C00000"/>
                </a:solidFill>
              </a:rPr>
              <a:t> </a:t>
            </a:r>
            <a:r>
              <a:rPr lang="en-US" sz="2800" dirty="0" err="1">
                <a:solidFill>
                  <a:srgbClr val="C00000"/>
                </a:solidFill>
              </a:rPr>
              <a:t>neraka</a:t>
            </a:r>
            <a:r>
              <a:rPr lang="en-US" sz="2800" dirty="0">
                <a:solidFill>
                  <a:srgbClr val="C00000"/>
                </a:solidFill>
              </a:rPr>
              <a:t>,</a:t>
            </a:r>
            <a:r>
              <a:rPr lang="en-US" sz="2800" dirty="0"/>
              <a:t> </a:t>
            </a:r>
            <a:r>
              <a:rPr lang="en-US" sz="2800" dirty="0" err="1"/>
              <a:t>dia</a:t>
            </a:r>
            <a:r>
              <a:rPr lang="en-US" sz="2800" dirty="0"/>
              <a:t> </a:t>
            </a:r>
            <a:r>
              <a:rPr lang="en-US" sz="2800" dirty="0" err="1"/>
              <a:t>kekal</a:t>
            </a:r>
            <a:r>
              <a:rPr lang="en-US" sz="2800" dirty="0"/>
              <a:t> di </a:t>
            </a:r>
            <a:r>
              <a:rPr lang="en-US" sz="2800" dirty="0" err="1"/>
              <a:t>dalamnya</a:t>
            </a:r>
            <a:r>
              <a:rPr lang="en-US" sz="2800" dirty="0"/>
              <a:t> </a:t>
            </a:r>
            <a:r>
              <a:rPr lang="en-US" sz="2800" dirty="0" err="1"/>
              <a:t>dan</a:t>
            </a:r>
            <a:r>
              <a:rPr lang="en-US" sz="2800" dirty="0"/>
              <a:t> </a:t>
            </a:r>
            <a:r>
              <a:rPr lang="en-US" sz="2800" dirty="0" err="1"/>
              <a:t>dia</a:t>
            </a:r>
            <a:r>
              <a:rPr lang="en-US" sz="2800" dirty="0"/>
              <a:t> </a:t>
            </a:r>
            <a:r>
              <a:rPr lang="en-US" sz="2800" dirty="0" err="1"/>
              <a:t>akan</a:t>
            </a:r>
            <a:r>
              <a:rPr lang="en-US" sz="2800" dirty="0"/>
              <a:t> </a:t>
            </a:r>
            <a:r>
              <a:rPr lang="en-US" sz="2800" dirty="0" err="1"/>
              <a:t>mendapat</a:t>
            </a:r>
            <a:r>
              <a:rPr lang="en-US" sz="2800" dirty="0"/>
              <a:t> </a:t>
            </a:r>
            <a:r>
              <a:rPr lang="en-US" sz="2800" dirty="0" err="1"/>
              <a:t>azab</a:t>
            </a:r>
            <a:r>
              <a:rPr lang="en-US" sz="2800" dirty="0"/>
              <a:t> yang </a:t>
            </a:r>
            <a:r>
              <a:rPr lang="en-US" sz="2800" dirty="0" err="1"/>
              <a:t>menghinakan</a:t>
            </a:r>
            <a:r>
              <a:rPr lang="en-US" sz="2800" dirty="0"/>
              <a:t>.</a:t>
            </a:r>
            <a:endParaRPr lang="en-US" sz="2800" dirty="0">
              <a:solidFill>
                <a:schemeClr val="tx1">
                  <a:lumMod val="95000"/>
                  <a:lumOff val="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ircle(in)">
                                      <p:cBhvr>
                                        <p:cTn id="1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02AF7-BCF2-0DAC-27EC-49BDCB7BA21E}"/>
              </a:ext>
            </a:extLst>
          </p:cNvPr>
          <p:cNvSpPr>
            <a:spLocks noGrp="1"/>
          </p:cNvSpPr>
          <p:nvPr>
            <p:ph type="title"/>
          </p:nvPr>
        </p:nvSpPr>
        <p:spPr>
          <a:xfrm>
            <a:off x="457200" y="338328"/>
            <a:ext cx="8229600" cy="576072"/>
          </a:xfrm>
        </p:spPr>
        <p:txBody>
          <a:bodyPr>
            <a:normAutofit fontScale="90000"/>
          </a:bodyPr>
          <a:lstStyle/>
          <a:p>
            <a:r>
              <a:rPr lang="en-US" dirty="0"/>
              <a:t>Skema </a:t>
            </a:r>
            <a:r>
              <a:rPr lang="en-US" dirty="0" err="1"/>
              <a:t>hitung</a:t>
            </a:r>
            <a:r>
              <a:rPr lang="en-US" dirty="0"/>
              <a:t> </a:t>
            </a:r>
            <a:r>
              <a:rPr lang="en-US" dirty="0" err="1"/>
              <a:t>waris</a:t>
            </a:r>
            <a:endParaRPr lang="en-ID" dirty="0"/>
          </a:p>
        </p:txBody>
      </p:sp>
      <p:pic>
        <p:nvPicPr>
          <p:cNvPr id="4" name="Picture 3">
            <a:extLst>
              <a:ext uri="{FF2B5EF4-FFF2-40B4-BE49-F238E27FC236}">
                <a16:creationId xmlns:a16="http://schemas.microsoft.com/office/drawing/2014/main" id="{CF2D9C9F-3C4F-8929-800A-D13DEF28F9C4}"/>
              </a:ext>
            </a:extLst>
          </p:cNvPr>
          <p:cNvPicPr>
            <a:picLocks noChangeAspect="1"/>
          </p:cNvPicPr>
          <p:nvPr/>
        </p:nvPicPr>
        <p:blipFill>
          <a:blip r:embed="rId2"/>
          <a:stretch>
            <a:fillRect/>
          </a:stretch>
        </p:blipFill>
        <p:spPr>
          <a:xfrm>
            <a:off x="0" y="914400"/>
            <a:ext cx="9144000" cy="5932357"/>
          </a:xfrm>
          <a:prstGeom prst="rect">
            <a:avLst/>
          </a:prstGeom>
        </p:spPr>
      </p:pic>
    </p:spTree>
    <p:extLst>
      <p:ext uri="{BB962C8B-B14F-4D97-AF65-F5344CB8AC3E}">
        <p14:creationId xmlns:p14="http://schemas.microsoft.com/office/powerpoint/2010/main" val="42581110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50</TotalTime>
  <Words>1385</Words>
  <Application>Microsoft Office PowerPoint</Application>
  <PresentationFormat>On-screen Show (4:3)</PresentationFormat>
  <Paragraphs>72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Bahnschrift</vt:lpstr>
      <vt:lpstr>Calibri</vt:lpstr>
      <vt:lpstr>Candara</vt:lpstr>
      <vt:lpstr>Comic Sans MS</vt:lpstr>
      <vt:lpstr>Symbol</vt:lpstr>
      <vt:lpstr>Waveform</vt:lpstr>
      <vt:lpstr>PowerPoint Presentation</vt:lpstr>
      <vt:lpstr>DASAR HUKUM PEMBAGIAN WARIS MENURUT SYARIAT ISLAM</vt:lpstr>
      <vt:lpstr>Perintah mempelajari dan mendakwahkan ilmu Faraaidh</vt:lpstr>
      <vt:lpstr>Perintah untuk melaksanakan ilmu Faraaidh</vt:lpstr>
      <vt:lpstr>Berikan warisan kpd yang berhak sesuai ketentuan</vt:lpstr>
      <vt:lpstr>Tinggalkan warisan ; jangan tinggalkan hutang</vt:lpstr>
      <vt:lpstr>Segera bagi waris, ketika ada salah satu ortu yang meninggal</vt:lpstr>
      <vt:lpstr>Hendaknya ada pilah-pilah harta pada keluarga muslim (Suami-Istri)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Skema hitung waris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ideapad lenovo</cp:lastModifiedBy>
  <cp:revision>21</cp:revision>
  <dcterms:created xsi:type="dcterms:W3CDTF">2022-09-25T08:27:00Z</dcterms:created>
  <dcterms:modified xsi:type="dcterms:W3CDTF">2025-09-13T05:51:14Z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9E187B06D52A4812BCE802755F572C0C</vt:lpwstr>
  </property>
  <property fmtid="{D5CDD505-2E9C-101B-9397-08002B2CF9AE}" pid="3" name="KSOProductBuildVer">
    <vt:lpwstr>1033-11.2.0.11341</vt:lpwstr>
  </property>
</Properties>
</file>